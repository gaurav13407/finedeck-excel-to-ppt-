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800" b="1">
                <a:solidFill>
                  <a:srgbClr val="004F9E"/>
                </a:solidFill>
                <a:latin typeface="Segoe UI"/>
              </a:defRPr>
            </a:pPr>
            <a:r>
              <a:t>Performance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C757D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3175">
              <a:solidFill>
                <a:srgbClr val="E9ECEF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C757D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B"/>
          </a:solidFill>
          <a:ln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4" name="Oval 3"/>
          <p:cNvSpPr/>
          <p:nvPr/>
        </p:nvSpPr>
        <p:spPr>
          <a:xfrm>
            <a:off x="457200" y="4572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FD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Backend Integration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Comprehensive Business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  <a:latin typeface="Segoe UI"/>
              </a:defRPr>
            </a:pPr>
            <a:r>
              <a:t>November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333333"/>
                </a:solidFill>
                <a:latin typeface="Segoe UI"/>
              </a:defRPr>
            </a:pPr>
            <a:r>
              <a:t>Powered by FinDeck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5486400"/>
            <a:ext cx="1828800" cy="914400"/>
          </a:xfrm>
          <a:prstGeom prst="roundRect">
            <a:avLst/>
          </a:prstGeom>
          <a:solidFill>
            <a:srgbClr val="CE93D8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4F9E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4F9E"/>
                </a:solidFill>
                <a:latin typeface="Segoe UI"/>
              </a:defRPr>
            </a:pPr>
            <a:r>
              <a:t>5 </a:t>
            </a:r>
            <a:r>
              <a:t>unique </a:t>
            </a:r>
            <a:r>
              <a:t>categories </a:t>
            </a:r>
            <a:r>
              <a:t>identified </a:t>
            </a:r>
            <a:r>
              <a:t>in </a:t>
            </a:r>
            <a:r>
              <a:t>Detected </a:t>
            </a:r>
            <a:r>
              <a:t>PnL </a:t>
            </a:r>
            <a:r>
              <a:t>Sheet </a:t>
            </a:r>
            <a:r>
              <a:t>dimension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137160" cy="13716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4F9E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4F9E"/>
                </a:solidFill>
                <a:latin typeface="Segoe UI"/>
              </a:defRPr>
            </a:pPr>
            <a:r>
              <a:rPr b="1">
                <a:solidFill>
                  <a:srgbClr val="2E7D32"/>
                </a:solidFill>
              </a:rPr>
              <a:t>Strong </a:t>
            </a:r>
            <a:r>
              <a:t>performance </a:t>
            </a:r>
            <a:r>
              <a:t>indicators </a:t>
            </a:r>
            <a:r>
              <a:t>across </a:t>
            </a:r>
            <a:r>
              <a:t>key </a:t>
            </a:r>
            <a:r>
              <a:t>business </a:t>
            </a:r>
            <a:r>
              <a:t>metrics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77439"/>
            <a:ext cx="137160" cy="13716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4F9E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4F9E"/>
                </a:solidFill>
                <a:latin typeface="Segoe UI"/>
              </a:defRPr>
            </a:pPr>
            <a:r>
              <a:t>Sector </a:t>
            </a:r>
            <a:r>
              <a:t>diversification </a:t>
            </a:r>
            <a:r>
              <a:t>provides </a:t>
            </a:r>
            <a:r>
              <a:t>balanced </a:t>
            </a:r>
            <a:r>
              <a:rPr b="1">
                <a:solidFill>
                  <a:srgbClr val="D32F2F"/>
                </a:solidFill>
              </a:rPr>
              <a:t>risk </a:t>
            </a:r>
            <a:r>
              <a:t>profile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17520"/>
            <a:ext cx="137160" cy="13716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4F9E"/>
                </a:solidFill>
                <a:latin typeface="Segoe U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4F9E"/>
                </a:solidFill>
                <a:latin typeface="Segoe UI"/>
              </a:defRPr>
            </a:pPr>
            <a:r>
              <a:t>Data </a:t>
            </a:r>
            <a:r>
              <a:t>quality </a:t>
            </a:r>
            <a:r>
              <a:t>is </a:t>
            </a:r>
            <a:r>
              <a:rPr b="1">
                <a:solidFill>
                  <a:srgbClr val="2E7D32"/>
                </a:solidFill>
              </a:rPr>
              <a:t>high </a:t>
            </a:r>
            <a:r>
              <a:t>with </a:t>
            </a:r>
            <a:r>
              <a:t>comprehensive </a:t>
            </a:r>
            <a:r>
              <a:t>coverage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57600"/>
            <a:ext cx="137160" cy="13716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4F9E"/>
                </a:solidFill>
                <a:latin typeface="Segoe U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4F9E"/>
                </a:solidFill>
                <a:latin typeface="Segoe UI"/>
              </a:defRPr>
            </a:pPr>
            <a:r>
              <a:t>Trend </a:t>
            </a:r>
            <a:r>
              <a:t>analysis </a:t>
            </a:r>
            <a:r>
              <a:t>suggests </a:t>
            </a:r>
            <a:r>
              <a:rPr b="1">
                <a:solidFill>
                  <a:srgbClr val="2E7D32"/>
                </a:solidFill>
              </a:rPr>
              <a:t>positive </a:t>
            </a:r>
            <a:r>
              <a:t>outlook </a:t>
            </a:r>
            <a:r>
              <a:t>for </a:t>
            </a:r>
            <a:r>
              <a:t>next </a:t>
            </a:r>
            <a:r>
              <a:t>period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97680"/>
            <a:ext cx="137160" cy="13716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4F9E"/>
                </a:solidFill>
                <a:latin typeface="Segoe U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4F9E"/>
                </a:solidFill>
                <a:latin typeface="Segoe UI"/>
              </a:defRPr>
            </a:pPr>
            <a:r>
              <a:t>Recommendations </a:t>
            </a:r>
            <a:r>
              <a:t>align </a:t>
            </a:r>
            <a:r>
              <a:t>with </a:t>
            </a:r>
            <a:r>
              <a:t>strategic </a:t>
            </a:r>
            <a:r>
              <a:t>business </a:t>
            </a:r>
            <a:r>
              <a:t>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🤖 AI-Powered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>
                <a:solidFill/>
                <a:latin typeface="Segoe UI"/>
              </a:defRPr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5 unique categories identified in Detected PnL Sheet dimension</a:t>
            </a:r>
          </a:p>
          <a:p>
            <a:pPr>
              <a:spcBef>
                <a:spcPts val="1200"/>
              </a:spcBef>
              <a:defRPr>
                <a:solidFill/>
                <a:latin typeface="Segoe UI"/>
              </a:defRPr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Strong performance indicators across key business metrics</a:t>
            </a:r>
          </a:p>
          <a:p>
            <a:pPr>
              <a:spcBef>
                <a:spcPts val="1200"/>
              </a:spcBef>
              <a:defRPr>
                <a:solidFill/>
                <a:latin typeface="Segoe UI"/>
              </a:defRPr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Sector diversification provides balanced risk profile</a:t>
            </a:r>
          </a:p>
          <a:p>
            <a:pPr>
              <a:spcBef>
                <a:spcPts val="1200"/>
              </a:spcBef>
              <a:defRPr>
                <a:solidFill/>
                <a:latin typeface="Segoe UI"/>
              </a:defRPr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Data quality is high with comprehensive coverage</a:t>
            </a:r>
          </a:p>
          <a:p>
            <a:pPr>
              <a:spcBef>
                <a:spcPts val="1200"/>
              </a:spcBef>
              <a:defRPr>
                <a:solidFill/>
                <a:latin typeface="Segoe UI"/>
              </a:defRPr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Trend analysis suggests positive outlook for next period</a:t>
            </a:r>
          </a:p>
          <a:p>
            <a:pPr>
              <a:spcBef>
                <a:spcPts val="1200"/>
              </a:spcBef>
              <a:defRPr>
                <a:solidFill/>
                <a:latin typeface="Segoe UI"/>
              </a:defRPr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Recommendations align with strategic business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>
                <a:solidFill/>
                <a:latin typeface="Segoe UI"/>
              </a:defRPr>
            </a:pPr>
            <a:r>
              <a:rPr sz="1400" b="1">
                <a:solidFill>
                  <a:srgbClr val="4A148C"/>
                </a:solidFill>
              </a:rPr>
              <a:t>📝 Analyst Notes: </a:t>
            </a:r>
            <a:r>
              <a:rPr sz="1200">
                <a:solidFill>
                  <a:srgbClr val="34495E"/>
                </a:solidFill>
              </a:rPr>
              <a:t>Data-driven insights generated by FinDeck AI analyzing key trends and patterns.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1554480"/>
          </a:xfrm>
          <a:prstGeom prst="rect">
            <a:avLst/>
          </a:prstGeom>
          <a:solidFill>
            <a:srgbClr val="F3E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495E"/>
                </a:solidFill>
                <a:latin typeface="Segoe UI"/>
              </a:defRPr>
            </a:pPr>
            <a:r>
              <a:t>Total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Segoe UI"/>
              </a:defRPr>
            </a:pPr>
            <a:r>
              <a:t>→ Current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188720"/>
            <a:ext cx="2286000" cy="1554480"/>
          </a:xfrm>
          <a:prstGeom prst="rect">
            <a:avLst/>
          </a:prstGeom>
          <a:solidFill>
            <a:srgbClr val="F3E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108960" y="1371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495E"/>
                </a:solidFill>
                <a:latin typeface="Segoe UI"/>
              </a:defRPr>
            </a:pPr>
            <a:r>
              <a:t>Detected PnL Sheet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8288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774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Segoe UI"/>
              </a:defRPr>
            </a:pPr>
            <a:r>
              <a:t>→ Unique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0" y="1188720"/>
          <a:ext cx="33832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Data Insights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Segoe UI"/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  <a:latin typeface="Segoe UI"/>
              </a:defRPr>
            </a:pPr>
            <a:r>
              <a:t>• Most common category: Detected Return/Price Sheet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  <a:latin typeface="Segoe UI"/>
              </a:defRPr>
            </a:pPr>
            <a:r>
              <a:t>• Data quality verified across all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Sector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Key Data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148C"/>
                </a:solidFill>
                <a:latin typeface="Segoe UI"/>
              </a:defRPr>
            </a:pPr>
            <a:r>
              <a:t>Category Diversity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  <a:latin typeface="Segoe UI"/>
              </a:defRPr>
            </a:pPr>
            <a:r>
              <a:t>Analysis spans 5 distinct categories in Detected PnL Sheet, providing comprehensive market coverage and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Top Performers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Segoe U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  <a:latin typeface="Segoe UI"/>
              </a:defRPr>
            </a:pPr>
            <a:r>
              <a:t>• Upward trajectory observed in key metrics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  <a:latin typeface="Segoe UI"/>
              </a:defRPr>
            </a:pPr>
            <a:r>
              <a:t>• Growth rate remains consistent with projections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  <a:latin typeface="Segoe UI"/>
              </a:defRPr>
            </a:pPr>
            <a:r>
              <a:t>• Seasonal patterns identified for optimization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  <a:latin typeface="Segoe UI"/>
              </a:defRPr>
            </a:pPr>
            <a:r>
              <a:t>• Positive outlook for next reporting period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4F9E"/>
                </a:solidFill>
                <a:latin typeface="Segoe U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4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4F9E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28600" y="45720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Summary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22860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defRPr b="1">
                <a:solidFill>
                  <a:srgbClr val="004F9E"/>
                </a:solidFill>
                <a:latin typeface="Segoe UI"/>
              </a:defRPr>
            </a:pPr>
          </a:p>
          <a:p>
            <a:pPr algn="ctr">
              <a:spcAft>
                <a:spcPts val="1400"/>
              </a:spcAft>
              <a:defRPr sz="2000">
                <a:solidFill>
                  <a:srgbClr val="16A085"/>
                </a:solidFill>
                <a:latin typeface="Segoe UI"/>
              </a:defRPr>
            </a:pPr>
            <a:r>
              <a:t>✓ Comprehensive analysis completed</a:t>
            </a:r>
          </a:p>
          <a:p>
            <a:pPr algn="ctr">
              <a:spcAft>
                <a:spcPts val="1400"/>
              </a:spcAft>
              <a:defRPr sz="2000">
                <a:solidFill>
                  <a:srgbClr val="16A085"/>
                </a:solidFill>
                <a:latin typeface="Segoe UI"/>
              </a:defRPr>
            </a:pPr>
            <a:r>
              <a:t>✓ Key insights identified for action</a:t>
            </a:r>
          </a:p>
          <a:p>
            <a:pPr algn="ctr">
              <a:spcAft>
                <a:spcPts val="1400"/>
              </a:spcAft>
              <a:defRPr sz="2000">
                <a:solidFill>
                  <a:srgbClr val="16A085"/>
                </a:solidFill>
                <a:latin typeface="Segoe UI"/>
              </a:defRPr>
            </a:pPr>
            <a:r>
              <a:t>✓ Data-driven recommendations provided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151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4F9E"/>
                </a:solidFill>
                <a:latin typeface="Segoe UI"/>
              </a:defRPr>
            </a:pPr>
            <a:r>
              <a:t>Generated by FinDeck | November 13,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