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4A148C"/>
          </a:solidFill>
          <a:ln>
            <a:solidFill>
              <a:srgbClr val="4A1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74320"/>
          </a:xfrm>
          <a:prstGeom prst="rect">
            <a:avLst/>
          </a:prstGeom>
          <a:solidFill>
            <a:srgbClr val="CE9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457200"/>
            <a:ext cx="1097280" cy="10972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CE93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" cy="10972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4A148C"/>
                </a:solidFill>
              </a:defRPr>
            </a:pPr>
            <a:r>
              <a:t>FD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Backend Integration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E93D8"/>
                </a:solidFill>
              </a:defRPr>
            </a:pPr>
            <a:r>
              <a:t>Comprehensive Business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F8C8D"/>
                </a:solidFill>
              </a:defRPr>
            </a:pPr>
            <a:r>
              <a:t>November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9436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CE93D8"/>
                </a:solidFill>
              </a:defRPr>
            </a:pPr>
            <a:r>
              <a:t>Powered by FinDeck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5486400"/>
            <a:ext cx="1828800" cy="914400"/>
          </a:xfrm>
          <a:prstGeom prst="roundRect">
            <a:avLst/>
          </a:prstGeom>
          <a:solidFill>
            <a:srgbClr val="CE93D8">
              <a:lumMod val="50000"/>
              <a:lumOff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A148C"/>
                </a:solidFill>
              </a:defRPr>
            </a:pPr>
            <a:r>
              <a:t>Executive Summary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097280"/>
            <a:ext cx="137160" cy="137160"/>
          </a:xfrm>
          <a:prstGeom prst="ellipse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5 </a:t>
            </a:r>
            <a:r>
              <a:t>unique </a:t>
            </a:r>
            <a:r>
              <a:t>categories </a:t>
            </a:r>
            <a:r>
              <a:t>identified </a:t>
            </a:r>
            <a:r>
              <a:t>in </a:t>
            </a:r>
            <a:r>
              <a:t>Detected </a:t>
            </a:r>
            <a:r>
              <a:t>PnL </a:t>
            </a:r>
            <a:r>
              <a:t>Sheet </a:t>
            </a:r>
            <a:r>
              <a:t>dimension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737360"/>
            <a:ext cx="137160" cy="137160"/>
          </a:xfrm>
          <a:prstGeom prst="ellipse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39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b="1">
                <a:solidFill>
                  <a:srgbClr val="2E7D32"/>
                </a:solidFill>
              </a:rPr>
              <a:t>Strong </a:t>
            </a:r>
            <a:r>
              <a:t>performance </a:t>
            </a:r>
            <a:r>
              <a:t>indicators </a:t>
            </a:r>
            <a:r>
              <a:t>across </a:t>
            </a:r>
            <a:r>
              <a:t>key </a:t>
            </a:r>
            <a:r>
              <a:t>business </a:t>
            </a:r>
            <a:r>
              <a:t>metrics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377439"/>
            <a:ext cx="137160" cy="137160"/>
          </a:xfrm>
          <a:prstGeom prst="ellipse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Sector </a:t>
            </a:r>
            <a:r>
              <a:t>diversification </a:t>
            </a:r>
            <a:r>
              <a:t>provides </a:t>
            </a:r>
            <a:r>
              <a:t>balanced </a:t>
            </a:r>
            <a:r>
              <a:rPr b="1">
                <a:solidFill>
                  <a:srgbClr val="D32F2F"/>
                </a:solidFill>
              </a:rPr>
              <a:t>risk </a:t>
            </a:r>
            <a:r>
              <a:t>profile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017520"/>
            <a:ext cx="137160" cy="137160"/>
          </a:xfrm>
          <a:prstGeom prst="ellipse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Data </a:t>
            </a:r>
            <a:r>
              <a:t>quality </a:t>
            </a:r>
            <a:r>
              <a:t>is </a:t>
            </a:r>
            <a:r>
              <a:rPr b="1">
                <a:solidFill>
                  <a:srgbClr val="2E7D32"/>
                </a:solidFill>
              </a:rPr>
              <a:t>high </a:t>
            </a:r>
            <a:r>
              <a:t>with </a:t>
            </a:r>
            <a:r>
              <a:t>comprehensive </a:t>
            </a:r>
            <a:r>
              <a:t>coverage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57600"/>
            <a:ext cx="137160" cy="137160"/>
          </a:xfrm>
          <a:prstGeom prst="ellipse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Trend </a:t>
            </a:r>
            <a:r>
              <a:t>analysis </a:t>
            </a:r>
            <a:r>
              <a:t>suggests </a:t>
            </a:r>
            <a:r>
              <a:rPr b="1">
                <a:solidFill>
                  <a:srgbClr val="2E7D32"/>
                </a:solidFill>
              </a:rPr>
              <a:t>positive </a:t>
            </a:r>
            <a:r>
              <a:t>outlook </a:t>
            </a:r>
            <a:r>
              <a:t>for </a:t>
            </a:r>
            <a:r>
              <a:t>next </a:t>
            </a:r>
            <a:r>
              <a:t>period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97680"/>
            <a:ext cx="137160" cy="137160"/>
          </a:xfrm>
          <a:prstGeom prst="ellipse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519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Recommendations </a:t>
            </a:r>
            <a:r>
              <a:t>align </a:t>
            </a:r>
            <a:r>
              <a:t>with </a:t>
            </a:r>
            <a:r>
              <a:t>strategic </a:t>
            </a:r>
            <a:r>
              <a:t>business </a:t>
            </a:r>
            <a:r>
              <a:t>objectives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4A148C"/>
                </a:solidFill>
              </a:defRPr>
            </a:pPr>
            <a:r>
              <a:t>🤖 AI-Powered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1800" b="1">
                <a:solidFill>
                  <a:srgbClr val="2E7D32"/>
                </a:solidFill>
              </a:rPr>
              <a:t>✓ </a:t>
            </a:r>
            <a:r>
              <a:rPr sz="1600">
                <a:solidFill>
                  <a:srgbClr val="34495E"/>
                </a:solidFill>
              </a:rPr>
              <a:t>5 unique categories identified in Detected PnL Sheet dimension</a:t>
            </a:r>
          </a:p>
          <a:p>
            <a:pPr>
              <a:spcBef>
                <a:spcPts val="1200"/>
              </a:spcBef>
            </a:pPr>
            <a:r>
              <a:rPr sz="1800" b="1">
                <a:solidFill>
                  <a:srgbClr val="2E7D32"/>
                </a:solidFill>
              </a:rPr>
              <a:t>✓ </a:t>
            </a:r>
            <a:r>
              <a:rPr sz="1600">
                <a:solidFill>
                  <a:srgbClr val="34495E"/>
                </a:solidFill>
              </a:rPr>
              <a:t>Strong performance indicators across key business metrics</a:t>
            </a:r>
          </a:p>
          <a:p>
            <a:pPr>
              <a:spcBef>
                <a:spcPts val="1200"/>
              </a:spcBef>
            </a:pPr>
            <a:r>
              <a:rPr sz="1800" b="1">
                <a:solidFill>
                  <a:srgbClr val="2E7D32"/>
                </a:solidFill>
              </a:rPr>
              <a:t>✓ </a:t>
            </a:r>
            <a:r>
              <a:rPr sz="1600">
                <a:solidFill>
                  <a:srgbClr val="34495E"/>
                </a:solidFill>
              </a:rPr>
              <a:t>Sector diversification provides balanced risk profile</a:t>
            </a:r>
          </a:p>
          <a:p>
            <a:pPr>
              <a:spcBef>
                <a:spcPts val="1200"/>
              </a:spcBef>
            </a:pPr>
            <a:r>
              <a:rPr sz="1800" b="1">
                <a:solidFill>
                  <a:srgbClr val="2E7D32"/>
                </a:solidFill>
              </a:rPr>
              <a:t>✓ </a:t>
            </a:r>
            <a:r>
              <a:rPr sz="1600">
                <a:solidFill>
                  <a:srgbClr val="34495E"/>
                </a:solidFill>
              </a:rPr>
              <a:t>Data quality is high with comprehensive coverage</a:t>
            </a:r>
          </a:p>
          <a:p>
            <a:pPr>
              <a:spcBef>
                <a:spcPts val="1200"/>
              </a:spcBef>
            </a:pPr>
            <a:r>
              <a:rPr sz="1800" b="1">
                <a:solidFill>
                  <a:srgbClr val="2E7D32"/>
                </a:solidFill>
              </a:rPr>
              <a:t>✓ </a:t>
            </a:r>
            <a:r>
              <a:rPr sz="1600">
                <a:solidFill>
                  <a:srgbClr val="34495E"/>
                </a:solidFill>
              </a:rPr>
              <a:t>Trend analysis suggests positive outlook for next period</a:t>
            </a:r>
          </a:p>
          <a:p>
            <a:pPr>
              <a:spcBef>
                <a:spcPts val="1200"/>
              </a:spcBef>
            </a:pPr>
            <a:r>
              <a:rPr sz="1800" b="1">
                <a:solidFill>
                  <a:srgbClr val="2E7D32"/>
                </a:solidFill>
              </a:rPr>
              <a:t>✓ </a:t>
            </a:r>
            <a:r>
              <a:rPr sz="1600">
                <a:solidFill>
                  <a:srgbClr val="34495E"/>
                </a:solidFill>
              </a:rPr>
              <a:t>Recommendations align with strategic business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5486400"/>
            <a:ext cx="8229600" cy="914400"/>
          </a:xfrm>
          <a:prstGeom prst="roundRect">
            <a:avLst/>
          </a:prstGeom>
          <a:solidFill>
            <a:srgbClr val="F3E5F5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/>
          <a:lstStyle/>
          <a:p>
            <a:pPr algn="ctr"/>
            <a:r>
              <a:rPr sz="1400" b="1">
                <a:solidFill>
                  <a:srgbClr val="4A148C"/>
                </a:solidFill>
              </a:rPr>
              <a:t>📝 Analyst Notes: </a:t>
            </a:r>
            <a:r>
              <a:rPr sz="1200">
                <a:solidFill>
                  <a:srgbClr val="34495E"/>
                </a:solidFill>
              </a:rPr>
              <a:t>Data-driven insights generated by FinDeck AI analyzing key trends and patterns.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A148C"/>
                </a:solidFill>
              </a:defRPr>
            </a:pPr>
            <a:r>
              <a:t>Key Metrics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256032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Total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148C"/>
                </a:solidFill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Current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188720"/>
            <a:ext cx="256032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Detected PnL Sheet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148C"/>
                </a:solidFill>
              </a:defRPr>
            </a:pPr>
            <a: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Unique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A148C"/>
                </a:solidFill>
              </a:defRPr>
            </a:pPr>
            <a:r>
              <a:t>Data Insights &amp;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Most common category: Detected Return/Price Sheet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Data quality verified across all metrics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A148C"/>
                </a:solidFill>
              </a:defRPr>
            </a:pPr>
            <a:r>
              <a:t>Sector Distribution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A148C"/>
                </a:solidFill>
              </a:defRPr>
            </a:pPr>
            <a:r>
              <a:t>Key Data Insights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F3E5F5"/>
          </a:solidFill>
          <a:ln w="254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4A148C"/>
                </a:solidFill>
              </a:defRPr>
            </a:pPr>
            <a:r>
              <a:t>Category Diversity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Analysis spans 5 distinct categories in Detected PnL Sheet, providing comprehensive market coverage and insights.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A148C"/>
                </a:solidFill>
              </a:defRPr>
            </a:pPr>
            <a:r>
              <a:t>Top Performers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4A148C"/>
                </a:solidFill>
              </a:defRPr>
            </a:pPr>
            <a:r>
              <a:t>Trend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Upward trajectory observed in key metrics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Growth rate remains consistent with projections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Seasonal patterns identified for optimization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Positive outlook for next reporting period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Summary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1200"/>
              </a:spcAft>
              <a:defRPr sz="1800">
                <a:solidFill>
                  <a:srgbClr val="CE93D8"/>
                </a:solidFill>
              </a:defRPr>
            </a:pPr>
            <a:r>
              <a:t>✓ Comprehensive analysis completed</a:t>
            </a:r>
          </a:p>
          <a:p>
            <a:pPr algn="ctr">
              <a:spcAft>
                <a:spcPts val="1200"/>
              </a:spcAft>
              <a:defRPr sz="1800">
                <a:solidFill>
                  <a:srgbClr val="CE93D8"/>
                </a:solidFill>
              </a:defRPr>
            </a:pPr>
            <a:r>
              <a:t>✓ Key insights identified for action</a:t>
            </a:r>
          </a:p>
          <a:p>
            <a:pPr algn="ctr">
              <a:spcAft>
                <a:spcPts val="1200"/>
              </a:spcAft>
              <a:defRPr sz="1800">
                <a:solidFill>
                  <a:srgbClr val="CE93D8"/>
                </a:solidFill>
              </a:defRPr>
            </a:pPr>
            <a:r>
              <a:t>✓ Data-driven recommendations provided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3E5F5"/>
                </a:solidFill>
              </a:defRPr>
            </a:pPr>
            <a:r>
              <a:t>Generated by FinDeck | November 08,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