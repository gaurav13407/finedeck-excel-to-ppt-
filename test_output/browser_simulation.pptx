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AB47BC"/>
            </a:solidFill>
          </c:spPr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TSLA</c:v>
                </c:pt>
                <c:pt idx="2">
                  <c:v>TCS.NS</c:v>
                </c:pt>
                <c:pt idx="3">
                  <c:v>BTC-USD</c:v>
                </c:pt>
                <c:pt idx="4">
                  <c:v>ETH-USD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10000</c:v>
                </c:pt>
                <c:pt idx="3">
                  <c:v>8000</c:v>
                </c:pt>
                <c:pt idx="4">
                  <c:v>5000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AB47BC"/>
            </a:solidFill>
          </c:spPr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TSLA</c:v>
                </c:pt>
                <c:pt idx="2">
                  <c:v>TCS.NS</c:v>
                </c:pt>
                <c:pt idx="3">
                  <c:v>BTC-USD</c:v>
                </c:pt>
                <c:pt idx="4">
                  <c:v>ETH-USD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10000</c:v>
                </c:pt>
                <c:pt idx="3">
                  <c:v>8000</c:v>
                </c:pt>
                <c:pt idx="4">
                  <c:v>5000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AB47BC"/>
            </a:solidFill>
          </c:spPr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TSLA</c:v>
                </c:pt>
                <c:pt idx="2">
                  <c:v>TCS.NS</c:v>
                </c:pt>
                <c:pt idx="3">
                  <c:v>BTC-USD</c:v>
                </c:pt>
                <c:pt idx="4">
                  <c:v>ETH-USD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10000</c:v>
                </c:pt>
                <c:pt idx="3">
                  <c:v>8000</c:v>
                </c:pt>
                <c:pt idx="4">
                  <c:v>5000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A148C"/>
          </a:solidFill>
          <a:ln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4A148C"/>
                </a:solidFill>
              </a:defRPr>
            </a:pPr>
            <a:r>
              <a:t>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Portfolio Allocation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B47BC"/>
                </a:solidFill>
              </a:defRPr>
            </a:pPr>
            <a:r>
              <a:t>Comprehensive Business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8C8D"/>
                </a:solidFill>
              </a:defRPr>
            </a:pPr>
            <a:r>
              <a:t>November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AB47BC"/>
                </a:solidFill>
              </a:defRPr>
            </a:pPr>
            <a:r>
              <a:t>Powered by FinDeck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5486400"/>
            <a:ext cx="1828800" cy="914400"/>
          </a:xfrm>
          <a:prstGeom prst="roundRect">
            <a:avLst/>
          </a:prstGeom>
          <a:solidFill>
            <a:srgbClr val="AB47BC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Executive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Analysis </a:t>
            </a:r>
            <a:r>
              <a:t>covers </a:t>
            </a:r>
            <a:r>
              <a:t>5 </a:t>
            </a:r>
            <a:r>
              <a:t>data </a:t>
            </a:r>
            <a:r>
              <a:t>points </a:t>
            </a:r>
            <a:r>
              <a:t>across </a:t>
            </a:r>
            <a:r>
              <a:t>4 </a:t>
            </a:r>
            <a:r>
              <a:t>dimensions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Value: </a:t>
            </a:r>
            <a:r>
              <a:t>Total </a:t>
            </a:r>
            <a:r>
              <a:t>of </a:t>
            </a:r>
            <a:r>
              <a:t>$58.0K, </a:t>
            </a:r>
            <a:r>
              <a:t>averaging </a:t>
            </a:r>
            <a:r>
              <a:t>$11.6K </a:t>
            </a:r>
            <a:r>
              <a:t>per </a:t>
            </a:r>
            <a:r>
              <a:t>record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5 </a:t>
            </a:r>
            <a:r>
              <a:t>unique </a:t>
            </a:r>
            <a:r>
              <a:t>categories </a:t>
            </a:r>
            <a:r>
              <a:t>identified </a:t>
            </a:r>
            <a:r>
              <a:t>in </a:t>
            </a:r>
            <a:r>
              <a:t>Asset </a:t>
            </a:r>
            <a:r>
              <a:t>dimension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b="1">
                <a:solidFill>
                  <a:srgbClr val="2E7D32"/>
                </a:solidFill>
              </a:rPr>
              <a:t>Strong </a:t>
            </a:r>
            <a:r>
              <a:t>performance </a:t>
            </a:r>
            <a:r>
              <a:t>indicators </a:t>
            </a:r>
            <a:r>
              <a:t>across </a:t>
            </a:r>
            <a:r>
              <a:t>key </a:t>
            </a:r>
            <a:r>
              <a:t>business </a:t>
            </a:r>
            <a:r>
              <a:t>metrics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Sector </a:t>
            </a:r>
            <a:r>
              <a:t>diversification </a:t>
            </a:r>
            <a:r>
              <a:t>provides </a:t>
            </a:r>
            <a:r>
              <a:t>balanced </a:t>
            </a:r>
            <a:r>
              <a:rPr b="1">
                <a:solidFill>
                  <a:srgbClr val="D32F2F"/>
                </a:solidFill>
              </a:rPr>
              <a:t>risk </a:t>
            </a:r>
            <a:r>
              <a:t>profile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97680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Data </a:t>
            </a:r>
            <a:r>
              <a:t>quality </a:t>
            </a:r>
            <a:r>
              <a:t>is </a:t>
            </a:r>
            <a:r>
              <a:rPr b="1">
                <a:solidFill>
                  <a:srgbClr val="2E7D32"/>
                </a:solidFill>
              </a:rPr>
              <a:t>high </a:t>
            </a:r>
            <a:r>
              <a:t>with </a:t>
            </a:r>
            <a:r>
              <a:t>comprehensive </a:t>
            </a:r>
            <a:r>
              <a:t>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148C"/>
                </a:solidFill>
              </a:defRPr>
            </a:pPr>
            <a:r>
              <a:t>🤖 AI-Powered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Analysis covers 5 data points across 4 dimensions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Value: Total of $58.0K, averaging $11.6K per record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5 unique categories identified in Asset dimension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Strong performance indicators across key business metrics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Sector diversification provides balanced risk profile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Data quality is high with comprehensive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/>
            <a:r>
              <a:rPr sz="1400" b="1">
                <a:solidFill>
                  <a:srgbClr val="4A148C"/>
                </a:solidFill>
              </a:rPr>
              <a:t>📝 Analyst Notes: </a:t>
            </a:r>
            <a:r>
              <a:rPr sz="1200">
                <a:solidFill>
                  <a:srgbClr val="34495E"/>
                </a:solidFill>
              </a:rPr>
              <a:t>Data-driven insights generated by FinDeck AI analyzing key trends and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148C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88720"/>
            <a:ext cx="25603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148C"/>
                </a:solidFill>
              </a:defRPr>
            </a:pPr>
            <a:r>
              <a:t>$58.0K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5603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Asset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148C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Unique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Data Insights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Value totals $58.0K with strong performance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Most common category: AAPL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Data quality verified across all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347862272000" y="1086965568000"/>
          <a:ext cx="3595347648000" cy="29264457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Sector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8063680000" y="1086965568000"/>
          <a:ext cx="3762573120000" cy="33445094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148C"/>
                </a:solidFill>
              </a:defRPr>
            </a:pPr>
            <a:r>
              <a:t>Distribution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AAPL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34.5%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94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25.9%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TCS.NS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560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17.2%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7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BTC-USD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26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918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ETH-USD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2918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8.6%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Key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148C"/>
                </a:solidFill>
              </a:defRPr>
            </a:pPr>
            <a:r>
              <a:t>Strong Value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Total Value of $58.0K with average of $11.6K per record, demonstrating solid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148C"/>
                </a:solidFill>
              </a:defRPr>
            </a:pPr>
            <a:r>
              <a:t>Category Diversity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Analysis spans 5 distinct categories in Asset, providing comprehensive market coverage and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640080" y="2377440"/>
            <a:ext cx="548640" cy="3200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548640" cy="3200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548640" cy="3200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Top Performers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148C"/>
                </a:solidFill>
              </a:defRPr>
            </a:pPr>
            <a:r>
              <a:t>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148C"/>
                </a:solidFill>
              </a:defRPr>
            </a:pPr>
            <a:r>
              <a:t>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148C"/>
                </a:solidFill>
              </a:defRPr>
            </a:pPr>
            <a: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1887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148C"/>
                </a:solidFill>
              </a:defRPr>
            </a:pPr>
            <a: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AAPL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$20.0K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CB342"/>
                </a:solidFill>
              </a:defRPr>
            </a:pPr>
            <a:r>
              <a:t>✓ Excellent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116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$15.0K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116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CB342"/>
                </a:solidFill>
              </a:defRPr>
            </a:pPr>
            <a:r>
              <a:t>✓ Excellent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3774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3774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TCS.NS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377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$10.0K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3774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CB342"/>
                </a:solidFill>
              </a:defRPr>
            </a:pPr>
            <a:r>
              <a:t>✓ Excellent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7432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BTC-USD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743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$8.0K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CB342"/>
                </a:solidFill>
              </a:defRPr>
            </a:pPr>
            <a:r>
              <a:t>✓ Strong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089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1089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ETH-USD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1089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$5.0K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108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CB342"/>
                </a:solidFill>
              </a:defRPr>
            </a:pPr>
            <a:r>
              <a:t>✓ Strong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Upward trajectory observed in key metrics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Growth rate remains consistent with projections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Seasonal patterns identified for optimization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Positive outlook for next reporting period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347862272000" y="1086965568000"/>
          <a:ext cx="3595347648000" cy="29264457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200"/>
              </a:spcAft>
              <a:defRPr sz="1800">
                <a:solidFill>
                  <a:srgbClr val="AB47BC"/>
                </a:solidFill>
              </a:defRPr>
            </a:pPr>
            <a:r>
              <a:t>✓ Comprehensive analysis completed</a:t>
            </a:r>
          </a:p>
          <a:p>
            <a:pPr algn="ctr">
              <a:spcAft>
                <a:spcPts val="1200"/>
              </a:spcAft>
              <a:defRPr sz="1800">
                <a:solidFill>
                  <a:srgbClr val="AB47BC"/>
                </a:solidFill>
              </a:defRPr>
            </a:pPr>
            <a:r>
              <a:t>✓ Key insights identified for action</a:t>
            </a:r>
          </a:p>
          <a:p>
            <a:pPr algn="ctr">
              <a:spcAft>
                <a:spcPts val="1200"/>
              </a:spcAft>
              <a:defRPr sz="1800">
                <a:solidFill>
                  <a:srgbClr val="AB47BC"/>
                </a:solidFill>
              </a:defRPr>
            </a:pPr>
            <a:r>
              <a:t>✓ Data-driven recommendations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3E5F5"/>
                </a:solidFill>
              </a:defRPr>
            </a:pPr>
            <a:r>
              <a:t>Generated by FinDeck | November 08,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