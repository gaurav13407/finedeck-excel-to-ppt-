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C23934"/>
              </a:solidFill>
            </c:spPr>
          </c:dPt>
          <c:dPt>
            <c:idx val="2"/>
            <c:spPr>
              <a:solidFill>
                <a:srgbClr val="9BBB59"/>
              </a:solidFill>
            </c:spPr>
          </c:dPt>
          <c:dPt>
            <c:idx val="3"/>
            <c:spPr>
              <a:solidFill>
                <a:srgbClr val="8064A2"/>
              </a:solidFill>
            </c:spPr>
          </c:dPt>
          <c:dPt>
            <c:idx val="4"/>
            <c:spPr>
              <a:solidFill>
                <a:srgbClr val="4BACC6"/>
              </a:solidFill>
            </c:spPr>
          </c:dPt>
          <c:cat>
            <c:strRef>
              <c:f>Sheet1!$A$2:$A$6</c:f>
              <c:strCache>
                <c:ptCount val="5"/>
                <c:pt idx="0">
                  <c:v>Technology</c:v>
                </c:pt>
                <c:pt idx="1">
                  <c:v>Healthcare</c:v>
                </c:pt>
                <c:pt idx="2">
                  <c:v>Finance</c:v>
                </c:pt>
                <c:pt idx="3">
                  <c:v>Energy</c:v>
                </c:pt>
                <c:pt idx="4">
                  <c:v>Consumer Goods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rgbClr val="9BC2E6"/>
            </a:solidFill>
          </c:spPr>
          <c:cat>
            <c:strRef>
              <c:f>Sheet1!$A$2:$A$6</c:f>
              <c:strCache>
                <c:ptCount val="5"/>
                <c:pt idx="0">
                  <c:v>Apple Inc.</c:v>
                </c:pt>
                <c:pt idx="1">
                  <c:v>Microsoft</c:v>
                </c:pt>
                <c:pt idx="2">
                  <c:v>Amazon</c:v>
                </c:pt>
                <c:pt idx="3">
                  <c:v>Google</c:v>
                </c:pt>
                <c:pt idx="4">
                  <c:v>Tesla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28.5</c:v>
                </c:pt>
                <c:pt idx="1">
                  <c:v>24.3</c:v>
                </c:pt>
                <c:pt idx="2">
                  <c:v>19.8</c:v>
                </c:pt>
                <c:pt idx="3">
                  <c:v>17.2</c:v>
                </c:pt>
                <c:pt idx="4">
                  <c:v>15.9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1750">
              <a:solidFill>
                <a:srgbClr val="4F81BD"/>
              </a:solidFill>
            </a:ln>
          </c:spPr>
          <c:marker>
            <c:symbol val="circle"/>
            <c:size val="7"/>
          </c:marker>
          <c:cat>
            <c:strRef>
              <c:f>Sheet1!$A$2:$A$4</c:f>
              <c:strCache>
                <c:ptCount val="3"/>
                <c:pt idx="0">
                  <c:v>Q1 2025</c:v>
                </c:pt>
                <c:pt idx="1">
                  <c:v>Q2 2025</c:v>
                </c:pt>
                <c:pt idx="2">
                  <c:v>Q3 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125000</c:v>
                </c:pt>
                <c:pt idx="1">
                  <c:v>142000</c:v>
                </c:pt>
                <c:pt idx="2">
                  <c:v>168000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Expenses</c:v>
                </c:pt>
              </c:strCache>
            </c:strRef>
          </c:tx>
          <c:spPr>
            <a:ln w="31750">
              <a:solidFill>
                <a:srgbClr val="C23934"/>
              </a:solidFill>
            </a:ln>
          </c:spPr>
          <c:marker>
            <c:symbol val="circle"/>
            <c:size val="7"/>
          </c:marker>
          <c:cat>
            <c:strRef>
              <c:f>Sheet1!$A$2:$A$4</c:f>
              <c:strCache>
                <c:ptCount val="3"/>
                <c:pt idx="0">
                  <c:v>Q1 2025</c:v>
                </c:pt>
                <c:pt idx="1">
                  <c:v>Q2 2025</c:v>
                </c:pt>
                <c:pt idx="2">
                  <c:v>Q3 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85000</c:v>
                </c:pt>
                <c:pt idx="1">
                  <c:v>92000</c:v>
                </c:pt>
                <c:pt idx="2">
                  <c:v>98000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Profit</c:v>
                </c:pt>
              </c:strCache>
            </c:strRef>
          </c:tx>
          <c:spPr>
            <a:ln w="31750">
              <a:solidFill>
                <a:srgbClr val="9BBB59"/>
              </a:solidFill>
            </a:ln>
          </c:spPr>
          <c:marker>
            <c:symbol val="circle"/>
            <c:size val="7"/>
          </c:marker>
          <c:cat>
            <c:strRef>
              <c:f>Sheet1!$A$2:$A$4</c:f>
              <c:strCache>
                <c:ptCount val="3"/>
                <c:pt idx="0">
                  <c:v>Q1 2025</c:v>
                </c:pt>
                <c:pt idx="1">
                  <c:v>Q2 2025</c:v>
                </c:pt>
                <c:pt idx="2">
                  <c:v>Q3 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40000</c:v>
                </c:pt>
                <c:pt idx="1">
                  <c:v>50000</c:v>
                </c:pt>
                <c:pt idx="2">
                  <c:v>70000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9BC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457200"/>
            <a:ext cx="1097280" cy="10972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BC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1F4E78"/>
                </a:solidFill>
              </a:defRPr>
            </a:pPr>
            <a:r>
              <a:t>FD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Q3 2025 Financial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BC2E6"/>
                </a:solidFill>
              </a:defRPr>
            </a:pPr>
            <a:r>
              <a:t>Executive Summary &amp; Strategic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F7F7F"/>
                </a:solidFill>
              </a:defRPr>
            </a:pPr>
            <a:r>
              <a:t>July - September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943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BC2E6"/>
                </a:solidFill>
              </a:defRPr>
            </a:pPr>
            <a:r>
              <a:t>Powered by FinDeck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5486400"/>
            <a:ext cx="1828800" cy="914400"/>
          </a:xfrm>
          <a:prstGeom prst="roundRect">
            <a:avLst/>
          </a:prstGeom>
          <a:solidFill>
            <a:srgbClr val="9BC2E6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80" b="1"/>
            </a:pPr>
            <a:r>
              <a:t>Portfolio Allocation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80" b="1"/>
            </a:pPr>
            <a:r>
              <a:t>Top Performers - Q3 2025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Up Arrow 3"/>
          <p:cNvSpPr/>
          <p:nvPr/>
        </p:nvSpPr>
        <p:spPr>
          <a:xfrm>
            <a:off x="274320" y="1828800"/>
            <a:ext cx="228600" cy="228600"/>
          </a:xfrm>
          <a:prstGeom prst="upArrow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74320" y="2651760"/>
            <a:ext cx="228600" cy="228600"/>
          </a:xfrm>
          <a:prstGeom prst="upArrow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74320" y="3474720"/>
            <a:ext cx="228600" cy="228600"/>
          </a:xfrm>
          <a:prstGeom prst="upArrow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80" b="1"/>
            </a:pPr>
            <a:r>
              <a:t>Revenue Trend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🤖 AI-Powered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33333"/>
                </a:solidFill>
              </a:rPr>
              <a:t>Strong portfolio growth of 24.5% observed across all sectors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33333"/>
                </a:solidFill>
              </a:rPr>
              <a:t>Technology sector shows excellent performance with minimal risk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33333"/>
                </a:solidFill>
              </a:rPr>
              <a:t>Revenue increased by 35% compared to previous quarter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33333"/>
                </a:solidFill>
              </a:rPr>
              <a:t>Market trends remain stable despite economic concerns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33333"/>
                </a:solidFill>
              </a:rPr>
              <a:t>Profit margins improved significantly reaching new high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33333"/>
                </a:solidFill>
              </a:rPr>
              <a:t>Investment strategy shows outstanding results with positive outlook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/>
            <a:r>
              <a:rPr sz="1400" b="1">
                <a:solidFill>
                  <a:srgbClr val="1F4E78"/>
                </a:solidFill>
              </a:rPr>
              <a:t>📝 Analyst Notes: </a:t>
            </a:r>
            <a:r>
              <a:rPr sz="1200">
                <a:solidFill>
                  <a:srgbClr val="333333"/>
                </a:solidFill>
              </a:rPr>
              <a:t>The portfolio demonstrates strong resilience with excellent diversification. Continue monitoring technology sector for potential growth opportunities while maintaining risk management protocols.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80" b="1"/>
            </a:pPr>
            <a:r>
              <a:t>Performance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371600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Excellent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371600"/>
            <a:ext cx="1371600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On Track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1371600" cy="3657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Monitor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1371600" cy="36576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2743200" cy="36576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2386584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Portfolio Performance: 87.0%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560320"/>
            <a:ext cx="2743200" cy="36576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560320"/>
            <a:ext cx="2523744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Risk Management: 92.0%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31920"/>
            <a:ext cx="2743200" cy="36576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931920"/>
            <a:ext cx="2002536" cy="36576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Market Alignment: 73.0%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931920"/>
            <a:ext cx="2743200" cy="36576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3931920"/>
            <a:ext cx="1234440" cy="36576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6576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Sector Diversity: 45.0%</a:t>
            </a:r>
          </a:p>
        </p:txBody>
      </p:sp>
      <p:sp>
        <p:nvSpPr>
          <p:cNvPr id="19" name="Decision 18"/>
          <p:cNvSpPr/>
          <p:nvPr/>
        </p:nvSpPr>
        <p:spPr>
          <a:xfrm>
            <a:off x="457200" y="2286000"/>
            <a:ext cx="274320" cy="274320"/>
          </a:xfrm>
          <a:prstGeom prst="flowChartDecision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4114800" y="2286000"/>
            <a:ext cx="274320" cy="274320"/>
          </a:xfrm>
          <a:prstGeom prst="hexagon">
            <a:avLst/>
          </a:prstGeom>
          <a:solidFill>
            <a:srgbClr val="9C27B0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" y="3657600"/>
            <a:ext cx="274320" cy="274320"/>
          </a:xfrm>
          <a:prstGeom prst="ellipse">
            <a:avLst/>
          </a:prstGeom>
          <a:solidFill>
            <a:srgbClr val="FF5722"/>
          </a:solidFill>
          <a:ln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4114800" y="3657600"/>
            <a:ext cx="274320" cy="274320"/>
          </a:xfrm>
          <a:prstGeom prst="triangle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