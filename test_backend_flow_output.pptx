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Data Insights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EF4444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Energy</c:v>
                </c:pt>
                <c:pt idx="4">
                  <c:v>Consumer</c:v>
                </c:pt>
                <c:pt idx="5">
                  <c:v>Industrial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35.5</c:v>
                </c:pt>
                <c:pt idx="1">
                  <c:v>25.2</c:v>
                </c:pt>
                <c:pt idx="2">
                  <c:v>20.1</c:v>
                </c:pt>
                <c:pt idx="3">
                  <c:v>12.3</c:v>
                </c:pt>
                <c:pt idx="4">
                  <c:v>4.9</c:v>
                </c:pt>
                <c:pt idx="5">
                  <c:v>2.0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Sector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EF4444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Energy</c:v>
                </c:pt>
                <c:pt idx="4">
                  <c:v>Consumer</c:v>
                </c:pt>
                <c:pt idx="5">
                  <c:v>Industrial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35.5</c:v>
                </c:pt>
                <c:pt idx="1">
                  <c:v>25.2</c:v>
                </c:pt>
                <c:pt idx="2">
                  <c:v>20.1</c:v>
                </c:pt>
                <c:pt idx="3">
                  <c:v>12.3</c:v>
                </c:pt>
                <c:pt idx="4">
                  <c:v>4.9</c:v>
                </c:pt>
                <c:pt idx="5">
                  <c:v>2.0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Trend Analysis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Values</c:v>
                </c:pt>
              </c:strCache>
            </c:strRef>
          </c:tx>
          <c:dPt>
            <c:idx val="0"/>
            <c:spPr>
              <a:solidFill>
                <a:srgbClr val="1E3A8A"/>
              </a:solidFill>
            </c:spPr>
          </c:dPt>
          <c:dPt>
            <c:idx val="1"/>
            <c:spPr>
              <a:solidFill>
                <a:srgbClr val="3B82F6"/>
              </a:solidFill>
            </c:spPr>
          </c:dPt>
          <c:dPt>
            <c:idx val="2"/>
            <c:spPr>
              <a:solidFill>
                <a:srgbClr val="60A5FA"/>
              </a:solidFill>
            </c:spPr>
          </c:dPt>
          <c:dPt>
            <c:idx val="3"/>
            <c:spPr>
              <a:solidFill>
                <a:srgbClr val="10B981"/>
              </a:solidFill>
            </c:spPr>
          </c:dPt>
          <c:dPt>
            <c:idx val="4"/>
            <c:spPr>
              <a:solidFill>
                <a:srgbClr val="F59E0B"/>
              </a:solidFill>
            </c:spPr>
          </c:dPt>
          <c:dPt>
            <c:idx val="5"/>
            <c:spPr>
              <a:solidFill>
                <a:srgbClr val="EF4444"/>
              </a:solidFill>
            </c:spPr>
          </c:dPt>
          <c:cat>
            <c:strRef>
              <c:f>Sheet1!$A$2:$A$7</c:f>
              <c:strCache>
                <c:ptCount val="6"/>
                <c:pt idx="0">
                  <c:v>Technology</c:v>
                </c:pt>
                <c:pt idx="1">
                  <c:v>Healthcare</c:v>
                </c:pt>
                <c:pt idx="2">
                  <c:v>Finance</c:v>
                </c:pt>
                <c:pt idx="3">
                  <c:v>Energy</c:v>
                </c:pt>
                <c:pt idx="4">
                  <c:v>Consumer</c:v>
                </c:pt>
                <c:pt idx="5">
                  <c:v>Industrial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35.5</c:v>
                </c:pt>
                <c:pt idx="1">
                  <c:v>25.2</c:v>
                </c:pt>
                <c:pt idx="2">
                  <c:v>20.1</c:v>
                </c:pt>
                <c:pt idx="3">
                  <c:v>12.3</c:v>
                </c:pt>
                <c:pt idx="4">
                  <c:v>4.9</c:v>
                </c:pt>
                <c:pt idx="5">
                  <c:v>2.0</c:v>
                </c:pt>
              </c:numCache>
            </c:numRef>
          </c:val>
        </c:ser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solidFill>
              <a:srgbClr val="4A1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457200"/>
            <a:ext cx="1097280" cy="10972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AB47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" cy="10972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600" b="1">
                <a:solidFill>
                  <a:srgbClr val="4A148C"/>
                </a:solidFill>
              </a:defRPr>
            </a:pPr>
            <a:r>
              <a:t>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Backend Flow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AB47BC"/>
                </a:solidFill>
              </a:defRPr>
            </a:pPr>
            <a:r>
              <a:t>Comprehensive Business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F8C8D"/>
                </a:solidFill>
              </a:defRPr>
            </a:pPr>
            <a:r>
              <a:t>November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9436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AB47BC"/>
                </a:solidFill>
              </a:defRPr>
            </a:pPr>
            <a:r>
              <a:t>Powered by FinDeck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5486400"/>
            <a:ext cx="1828800" cy="914400"/>
          </a:xfrm>
          <a:prstGeom prst="roundRect">
            <a:avLst/>
          </a:prstGeom>
          <a:solidFill>
            <a:srgbClr val="AB47BC">
              <a:lumMod val="50000"/>
              <a:lumOff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09728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515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Analysis </a:t>
            </a:r>
            <a:r>
              <a:t>covers </a:t>
            </a:r>
            <a:r>
              <a:t>6 </a:t>
            </a:r>
            <a:r>
              <a:t>data </a:t>
            </a:r>
            <a:r>
              <a:t>points </a:t>
            </a:r>
            <a:r>
              <a:t>across </a:t>
            </a:r>
            <a:r>
              <a:t>3 </a:t>
            </a:r>
            <a:r>
              <a:t>dimensions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73736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3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Allocation: </a:t>
            </a:r>
            <a:r>
              <a:t>Total </a:t>
            </a:r>
            <a:r>
              <a:t>of </a:t>
            </a:r>
            <a:r>
              <a:t>$100.00, </a:t>
            </a:r>
            <a:r>
              <a:t>averaging </a:t>
            </a:r>
            <a:r>
              <a:t>$16.67 </a:t>
            </a:r>
            <a:r>
              <a:t>per </a:t>
            </a:r>
            <a:r>
              <a:t>record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77439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Performance: </a:t>
            </a:r>
            <a:r>
              <a:t>Total </a:t>
            </a:r>
            <a:r>
              <a:t>of </a:t>
            </a:r>
            <a:r>
              <a:t>$62.40, </a:t>
            </a:r>
            <a:r>
              <a:t>averaging </a:t>
            </a:r>
            <a:r>
              <a:t>$10.40 </a:t>
            </a:r>
            <a:r>
              <a:t>per </a:t>
            </a:r>
            <a:r>
              <a:t>record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01752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6 </a:t>
            </a:r>
            <a:r>
              <a:t>unique </a:t>
            </a:r>
            <a:r>
              <a:t>categories </a:t>
            </a:r>
            <a:r>
              <a:t>identified </a:t>
            </a:r>
            <a:r>
              <a:t>in </a:t>
            </a:r>
            <a:r>
              <a:t>Sector </a:t>
            </a:r>
            <a:r>
              <a:t>dimension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65760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rPr b="1">
                <a:solidFill>
                  <a:srgbClr val="2E7D32"/>
                </a:solidFill>
              </a:rPr>
              <a:t>Strong </a:t>
            </a:r>
            <a:r>
              <a:t>performance </a:t>
            </a:r>
            <a:r>
              <a:t>indicators </a:t>
            </a:r>
            <a:r>
              <a:t>across </a:t>
            </a:r>
            <a:r>
              <a:t>key </a:t>
            </a:r>
            <a:r>
              <a:t>business </a:t>
            </a:r>
            <a:r>
              <a:t>metrics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297680"/>
            <a:ext cx="137160" cy="137160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4495E"/>
                </a:solidFill>
              </a:defRPr>
            </a:pPr>
            <a:r>
              <a:t>Sector </a:t>
            </a:r>
            <a:r>
              <a:t>diversification </a:t>
            </a:r>
            <a:r>
              <a:t>provides </a:t>
            </a:r>
            <a:r>
              <a:t>balanced </a:t>
            </a:r>
            <a:r>
              <a:rPr b="1">
                <a:solidFill>
                  <a:srgbClr val="D32F2F"/>
                </a:solidFill>
              </a:rPr>
              <a:t>risk </a:t>
            </a:r>
            <a:r>
              <a:t>profile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4A148C"/>
                </a:solidFill>
              </a:defRPr>
            </a:pPr>
            <a:r>
              <a:t>🤖 AI-Powered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Analysis covers 6 data points across 3 dimensions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Allocation: Total of $100.00, averaging $16.67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Performance: Total of $62.40, averaging $10.40 per record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6 unique categories identified in Sector dimension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Strong performance indicators across key business metrics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2E7D32"/>
                </a:solidFill>
              </a:rPr>
              <a:t>✓ </a:t>
            </a:r>
            <a:r>
              <a:rPr sz="1600">
                <a:solidFill>
                  <a:srgbClr val="34495E"/>
                </a:solidFill>
              </a:rPr>
              <a:t>Sector diversification provides balanced risk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486400"/>
            <a:ext cx="8229600" cy="914400"/>
          </a:xfrm>
          <a:prstGeom prst="round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/>
            <a:r>
              <a:rPr sz="1400" b="1">
                <a:solidFill>
                  <a:srgbClr val="4A148C"/>
                </a:solidFill>
              </a:rPr>
              <a:t>📝 Analyst Notes: </a:t>
            </a:r>
            <a:r>
              <a:rPr sz="1200">
                <a:solidFill>
                  <a:srgbClr val="34495E"/>
                </a:solidFill>
              </a:rPr>
              <a:t>Data-driven insights generated by FinDeck AI analyzing key trends and patterns.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Key Metrics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Total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Current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$100.00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Performance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$62.40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688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2560320" cy="1645920"/>
          </a:xfrm>
          <a:prstGeom prst="rect">
            <a:avLst/>
          </a:prstGeom>
          <a:solidFill>
            <a:srgbClr val="F3E5F5"/>
          </a:solidFill>
          <a:ln w="12700">
            <a:solidFill>
              <a:srgbClr val="7F8C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47472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495E"/>
                </a:solidFill>
              </a:defRPr>
            </a:pPr>
            <a:r>
              <a:t>Sector 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2194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148C"/>
                </a:solidFill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F8C8D"/>
                </a:solidFill>
              </a:defRPr>
            </a:pPr>
            <a:r>
              <a:t>→ Unique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Data Insights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Allocation totals $100.00 with strong performance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Performance shows $3.18 standard deviation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Most common category: Consumer</a:t>
            </a:r>
          </a:p>
          <a:p>
            <a:pPr>
              <a:spcAft>
                <a:spcPts val="1200"/>
              </a:spcAft>
              <a:defRPr sz="1400">
                <a:solidFill>
                  <a:srgbClr val="34495E"/>
                </a:solidFill>
              </a:defRPr>
            </a:pPr>
            <a:r>
              <a:t>• Data quality verified across all metrics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Sector Distribution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188720"/>
          <a:ext cx="41148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Distribution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35.5%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9456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1945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25.2%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560320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560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20.1%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Energy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9260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12.3%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329183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Consumer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29183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4.9%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599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Industrial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65759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/>
            </a:pPr>
            <a:r>
              <a:t>2.0%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Key Data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Strong Allocation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Total Allocation of $100.00 with average of $16.67 per record, demonstrating solid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Performance Consistency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Standard deviation of $3.18 indicates moderate variability in performance.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749039"/>
            <a:ext cx="8229600" cy="1097280"/>
          </a:xfrm>
          <a:prstGeom prst="rect">
            <a:avLst/>
          </a:prstGeom>
          <a:solidFill>
            <a:srgbClr val="F3E5F5"/>
          </a:solidFill>
          <a:ln w="254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148C"/>
                </a:solidFill>
              </a:defRPr>
            </a:pPr>
            <a:r>
              <a:t>Category Diversity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51959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4495E"/>
                </a:solidFill>
              </a:defRPr>
            </a:pPr>
            <a:r>
              <a:t>Analysis spans 6 distinct categories in Sector, providing comprehensive market coverage and insights.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8" name="Rectangle 17"/>
          <p:cNvSpPr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solidFill>
            <a:srgbClr val="AB4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Top Performers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Name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0" y="11887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A148C"/>
                </a:solidFill>
              </a:defRPr>
            </a:pPr>
            <a:r>
              <a:t>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6459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$35.50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6459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01168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Healthcare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0116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$25.20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Excellent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3774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Finance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237744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$20.10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237744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Excellent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74320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274320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Energy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74320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$12.30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74320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Strong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10896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10896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Consumer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31089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$4.90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310896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Strong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34747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/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347472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Industrial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474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/>
            </a:pPr>
            <a:r>
              <a:t>$2.00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47472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7CB342"/>
                </a:solidFill>
              </a:defRPr>
            </a:pPr>
            <a:r>
              <a:t>✓ Strong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A148C"/>
                </a:solidFill>
              </a:defRPr>
            </a:pPr>
            <a:r>
              <a:t>Trend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Upward trajectory observed in key metrics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Growth rate remains consistent with projections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Seasonal patterns identified for optimization</a:t>
            </a:r>
          </a:p>
          <a:p>
            <a:pPr>
              <a:spcAft>
                <a:spcPts val="1000"/>
              </a:spcAft>
              <a:defRPr sz="1400">
                <a:solidFill>
                  <a:srgbClr val="34495E"/>
                </a:solidFill>
              </a:defRPr>
            </a:pPr>
            <a:r>
              <a:t>• Positive outlook for next reporting period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754880" y="1188720"/>
          <a:ext cx="39319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Aft>
                <a:spcPts val="1200"/>
              </a:spcAft>
              <a:defRPr sz="1800">
                <a:solidFill>
                  <a:srgbClr val="AB47BC"/>
                </a:solidFill>
              </a:defRPr>
            </a:pPr>
            <a:r>
              <a:t>✓ Comprehensive analysis completed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AB47BC"/>
                </a:solidFill>
              </a:defRPr>
            </a:pPr>
            <a:r>
              <a:t>✓ Key insights identified for action</a:t>
            </a:r>
          </a:p>
          <a:p>
            <a:pPr algn="ctr">
              <a:spcAft>
                <a:spcPts val="1200"/>
              </a:spcAft>
              <a:defRPr sz="1800">
                <a:solidFill>
                  <a:srgbClr val="AB47BC"/>
                </a:solidFill>
              </a:defRPr>
            </a:pPr>
            <a:r>
              <a:t>✓ Data-driven recommendations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3E5F5"/>
                </a:solidFill>
              </a:defRPr>
            </a:pPr>
            <a:r>
              <a:t>Generated by FinDeck | November 09,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