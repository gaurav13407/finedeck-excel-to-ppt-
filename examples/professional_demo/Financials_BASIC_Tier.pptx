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Top Items by MarketCap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196F3"/>
              </a:solidFill>
            </c:spPr>
          </c:dPt>
          <c:dPt>
            <c:idx val="1"/>
            <c:spPr>
              <a:solidFill>
                <a:srgbClr val="2E7D32"/>
              </a:solidFill>
            </c:spPr>
          </c:dPt>
          <c:dPt>
            <c:idx val="2"/>
            <c:spPr>
              <a:solidFill>
                <a:srgbClr val="FFC107"/>
              </a:solidFill>
            </c:spPr>
          </c:dPt>
          <c:dPt>
            <c:idx val="3"/>
            <c:spPr>
              <a:solidFill>
                <a:srgbClr val="D32F2F"/>
              </a:solidFill>
            </c:spPr>
          </c:dPt>
          <c:dPt>
            <c:idx val="4"/>
            <c:spPr>
              <a:solidFill>
                <a:srgbClr val="9C27B0"/>
              </a:solidFill>
            </c:spPr>
          </c:dPt>
          <c:dPt>
            <c:idx val="5"/>
            <c:spPr>
              <a:solidFill>
                <a:srgbClr val="FF9800"/>
              </a:solidFill>
            </c:spPr>
          </c:dPt>
          <c:cat>
            <c:strRef>
              <c:f>Sheet1!$A$2:$A$7</c:f>
              <c:strCache>
                <c:ptCount val="6"/>
                <c:pt idx="0">
                  <c:v> Paseo </c:v>
                </c:pt>
                <c:pt idx="1">
                  <c:v> VTT </c:v>
                </c:pt>
                <c:pt idx="2">
                  <c:v> Velo </c:v>
                </c:pt>
                <c:pt idx="3">
                  <c:v> Amarilla </c:v>
                </c:pt>
                <c:pt idx="4">
                  <c:v> Montana </c:v>
                </c:pt>
                <c:pt idx="5">
                  <c:v> Carretera 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33011143.96</c:v>
                </c:pt>
                <c:pt idx="1">
                  <c:v>20511921.02</c:v>
                </c:pt>
                <c:pt idx="2">
                  <c:v>18250059.47</c:v>
                </c:pt>
                <c:pt idx="3">
                  <c:v>17747116.07</c:v>
                </c:pt>
                <c:pt idx="4">
                  <c:v>15390801.88</c:v>
                </c:pt>
                <c:pt idx="5">
                  <c:v>13815307.89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Multi-Metric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 Amarilla </c:v>
                </c:pt>
                <c:pt idx="1">
                  <c:v> Carretera </c:v>
                </c:pt>
                <c:pt idx="2">
                  <c:v> Montana </c:v>
                </c:pt>
                <c:pt idx="3">
                  <c:v> Paseo </c:v>
                </c:pt>
                <c:pt idx="4">
                  <c:v> VTT </c:v>
                </c:pt>
                <c:pt idx="5">
                  <c:v> Velo 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17747116.07</c:v>
                </c:pt>
                <c:pt idx="1">
                  <c:v>13815307.89</c:v>
                </c:pt>
                <c:pt idx="2">
                  <c:v>15390801.88</c:v>
                </c:pt>
                <c:pt idx="3">
                  <c:v>33011143.96</c:v>
                </c:pt>
                <c:pt idx="4">
                  <c:v>20511921.02</c:v>
                </c:pt>
                <c:pt idx="5">
                  <c:v>18250059.47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Return_1Y_%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 Amarilla </c:v>
                </c:pt>
                <c:pt idx="1">
                  <c:v> Carretera </c:v>
                </c:pt>
                <c:pt idx="2">
                  <c:v> Montana </c:v>
                </c:pt>
                <c:pt idx="3">
                  <c:v> Paseo </c:v>
                </c:pt>
                <c:pt idx="4">
                  <c:v> VTT </c:v>
                </c:pt>
                <c:pt idx="5">
                  <c:v> Velo 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16.54</c:v>
                </c:pt>
                <c:pt idx="1">
                  <c:v>14.9</c:v>
                </c:pt>
                <c:pt idx="2">
                  <c:v>14.11</c:v>
                </c:pt>
                <c:pt idx="3">
                  <c:v>14.9</c:v>
                </c:pt>
                <c:pt idx="4">
                  <c:v>15.39</c:v>
                </c:pt>
                <c:pt idx="5">
                  <c:v>13.32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TrailingPE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 Amarilla </c:v>
                </c:pt>
                <c:pt idx="1">
                  <c:v> Carretera </c:v>
                </c:pt>
                <c:pt idx="2">
                  <c:v> Montana </c:v>
                </c:pt>
                <c:pt idx="3">
                  <c:v> Paseo </c:v>
                </c:pt>
                <c:pt idx="4">
                  <c:v> VTT </c:v>
                </c:pt>
                <c:pt idx="5">
                  <c:v> Velo 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6.04</c:v>
                </c:pt>
                <c:pt idx="1">
                  <c:v>6.71</c:v>
                </c:pt>
                <c:pt idx="2">
                  <c:v>7.09</c:v>
                </c:pt>
                <c:pt idx="3">
                  <c:v>6.71</c:v>
                </c:pt>
                <c:pt idx="4">
                  <c:v>6.5</c:v>
                </c:pt>
                <c:pt idx="5">
                  <c:v>7.51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Distribution by Sector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196F3"/>
              </a:solidFill>
            </c:spPr>
          </c:dPt>
          <c:dPt>
            <c:idx val="1"/>
            <c:spPr>
              <a:solidFill>
                <a:srgbClr val="2E7D32"/>
              </a:solidFill>
            </c:spPr>
          </c:dPt>
          <c:dPt>
            <c:idx val="2"/>
            <c:spPr>
              <a:solidFill>
                <a:srgbClr val="FFC107"/>
              </a:solidFill>
            </c:spPr>
          </c:dPt>
          <c:dPt>
            <c:idx val="3"/>
            <c:spPr>
              <a:solidFill>
                <a:srgbClr val="D32F2F"/>
              </a:solidFill>
            </c:spPr>
          </c:dPt>
          <c:dPt>
            <c:idx val="4"/>
            <c:spPr>
              <a:solidFill>
                <a:srgbClr val="9C27B0"/>
              </a:solidFill>
            </c:spPr>
          </c:dPt>
          <c:dPt>
            <c:idx val="5"/>
            <c:spPr>
              <a:solidFill>
                <a:srgbClr val="FF9800"/>
              </a:solidFill>
            </c:spPr>
          </c:dPt>
          <c:cat>
            <c:strRef>
              <c:f>Sheet1!$A$2:$A$7</c:f>
              <c:strCache>
                <c:ptCount val="6"/>
                <c:pt idx="0">
                  <c:v>Consumer Goods</c:v>
                </c:pt>
                <c:pt idx="1">
                  <c:v>Consumer Goods</c:v>
                </c:pt>
                <c:pt idx="2">
                  <c:v>Consumer Goods</c:v>
                </c:pt>
                <c:pt idx="3">
                  <c:v>Consumer Goods</c:v>
                </c:pt>
                <c:pt idx="4">
                  <c:v>Consumer Goods</c:v>
                </c:pt>
                <c:pt idx="5">
                  <c:v>Consumer Goods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33011143.96</c:v>
                </c:pt>
                <c:pt idx="1">
                  <c:v>20511921.02</c:v>
                </c:pt>
                <c:pt idx="2">
                  <c:v>18250059.47</c:v>
                </c:pt>
                <c:pt idx="3">
                  <c:v>17747116.07</c:v>
                </c:pt>
                <c:pt idx="4">
                  <c:v>15390801.88</c:v>
                </c:pt>
                <c:pt idx="5">
                  <c:v>13815307.89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21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4800" b="1">
                <a:solidFill>
                  <a:srgbClr val="495057"/>
                </a:solidFill>
              </a:defRPr>
            </a:pPr>
            <a:r>
              <a:t>Financial Performance Analysis - Q4 2025 (BASIC)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Generated on November 2025</a:t>
            </a:r>
          </a:p>
          <a:p>
            <a:r>
              <a:t>by Financial Services Corp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12529"/>
                </a:solidFill>
              </a:defRPr>
            </a:pPr>
            <a:r>
              <a:t>📊 Powered by Excel-to-PPT AI Converter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📊 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8046720" cy="4754880"/>
          </a:xfrm>
          <a:prstGeom prst="rect">
            <a:avLst/>
          </a:prstGeom>
          <a:solidFill>
            <a:srgbClr val="F8F9FA"/>
          </a:solidFill>
          <a:ln w="25400">
            <a:solidFill>
              <a:srgbClr val="C8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6949440" cy="4114800"/>
          </a:xfrm>
          <a:prstGeom prst="rect">
            <a:avLst/>
          </a:prstGeom>
          <a:noFill/>
        </p:spPr>
        <p:txBody>
          <a:bodyPr wrap="square" lIns="182880">
            <a:spAutoFit/>
          </a:bodyPr>
          <a:lstStyle/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Analyzing 6 entities across 7 key metrics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 Paseo  leads with $33.01M in MarketCap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6 out of 6 showing positive Return 1Y % (100%)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Portfolio spans 1 sectors, Consumer Goods has 6 entities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Average P/E ratio of 6.8x indicates reasonable valuation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💵 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3840480" cy="2011680"/>
          </a:xfrm>
          <a:prstGeom prst="rect">
            <a:avLst/>
          </a:prstGeom>
          <a:solidFill>
            <a:srgbClr val="1F4E78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Total Market Cap (Millions)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$118.73M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8FFC8"/>
                </a:solidFill>
              </a:defRPr>
            </a:pPr>
            <a:r>
              <a:t>↗️ +12.5%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463040"/>
            <a:ext cx="3840480" cy="2011680"/>
          </a:xfrm>
          <a:prstGeom prst="rect">
            <a:avLst/>
          </a:prstGeom>
          <a:solidFill>
            <a:srgbClr val="4F81BD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737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Avg 1Y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286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14.9%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  <a:r>
              <a:t>→ Moderate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40"/>
            <a:ext cx="3840480" cy="2011680"/>
          </a:xfrm>
          <a:prstGeom prst="rect">
            <a:avLst/>
          </a:prstGeom>
          <a:solidFill>
            <a:srgbClr val="2E75B5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Avg P/E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6.8x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  <a:r>
              <a:t>→ Stable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3749040"/>
            <a:ext cx="3840480" cy="2011680"/>
          </a:xfrm>
          <a:prstGeom prst="rect">
            <a:avLst/>
          </a:prstGeom>
          <a:solidFill>
            <a:srgbClr val="5B9BD5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4023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Portfolio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572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6 Stocks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120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� Data Insights Dashboard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39319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🗂️ Sector Distribution Analysis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371600" y="1371600"/>
          <a:ext cx="6400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defRPr sz="1400" i="1">
                <a:solidFill>
                  <a:srgbClr val="343A40"/>
                </a:solidFill>
              </a:defRPr>
            </a:pPr>
            <a:r>
              <a:t>💡 Key Insight: Consumer Goods: 6 out of 6 entities (100.0%)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🏆 Top Performers - 1 Year Returns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48463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286000"/>
                <a:gridCol w="1097280"/>
                <a:gridCol w="73152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Ticker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Company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1Y Return %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Amarilla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Amarilla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16.54%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VTT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VTT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15.39%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Carretera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Carretera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14.90%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Paseo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Paseo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14.90%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Montana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Montana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14.11%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46634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</a:defRPr>
            </a:pPr>
            <a:r>
              <a:t>Legend: 🟢 Strong (&gt;50%)  🟡 Good (20-50%)  🟠 Moderate (0-20%)  🔴 Negative (&lt;0%)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defRPr sz="1400" i="1">
                <a:solidFill>
                  <a:srgbClr val="343A40"/>
                </a:solidFill>
              </a:defRPr>
            </a:pPr>
            <a:r>
              <a:t>💡  Amarilla  ( Amarilla  Product) leads the portfolio with an impressive 16.54% annual return, demonstrating exceptional market performance and strong investor confidence.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21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9144000" cy="1371600"/>
          </a:xfrm>
          <a:prstGeom prst="rect">
            <a:avLst/>
          </a:prstGeom>
          <a:solidFill>
            <a:srgbClr val="495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495057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Financial Services Corp</a:t>
            </a:r>
          </a:p>
          <a:p>
            <a:r>
              <a:t>analyst@financial.com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69696"/>
                </a:solidFill>
              </a:defRPr>
            </a:pPr>
            <a:r>
              <a:t>📊 Generated via Excel-to-PPT AI Converter</a:t>
            </a:r>
          </a:p>
          <a:p>
            <a:r>
              <a:t>www.exceltoppt.ai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