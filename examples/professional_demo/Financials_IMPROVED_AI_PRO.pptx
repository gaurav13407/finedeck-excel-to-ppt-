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Top Items by MarketCap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dPt>
            <c:idx val="1"/>
            <c:spPr>
              <a:solidFill>
                <a:srgbClr val="2E7D32"/>
              </a:solidFill>
            </c:spPr>
          </c:dPt>
          <c:dPt>
            <c:idx val="2"/>
            <c:spPr>
              <a:solidFill>
                <a:srgbClr val="FFC107"/>
              </a:solidFill>
            </c:spPr>
          </c:dPt>
          <c:dPt>
            <c:idx val="3"/>
            <c:spPr>
              <a:solidFill>
                <a:srgbClr val="D32F2F"/>
              </a:solidFill>
            </c:spPr>
          </c:dPt>
          <c:dPt>
            <c:idx val="4"/>
            <c:spPr>
              <a:solidFill>
                <a:srgbClr val="9C27B0"/>
              </a:solidFill>
            </c:spPr>
          </c:dPt>
          <c:dPt>
            <c:idx val="5"/>
            <c:spPr>
              <a:solidFill>
                <a:srgbClr val="FF9800"/>
              </a:solidFill>
            </c:spPr>
          </c:dPt>
          <c:cat>
            <c:strRef>
              <c:f>Sheet1!$A$2:$A$7</c:f>
              <c:strCache>
                <c:ptCount val="6"/>
                <c:pt idx="0">
                  <c:v> Paseo </c:v>
                </c:pt>
                <c:pt idx="1">
                  <c:v> VTT </c:v>
                </c:pt>
                <c:pt idx="2">
                  <c:v> Velo </c:v>
                </c:pt>
                <c:pt idx="3">
                  <c:v> Amarilla </c:v>
                </c:pt>
                <c:pt idx="4">
                  <c:v> Montana </c:v>
                </c:pt>
                <c:pt idx="5">
                  <c:v> Carretera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27.8</c:v>
                </c:pt>
                <c:pt idx="1">
                  <c:v>17.28</c:v>
                </c:pt>
                <c:pt idx="2">
                  <c:v>15.37</c:v>
                </c:pt>
                <c:pt idx="3">
                  <c:v>14.95</c:v>
                </c:pt>
                <c:pt idx="4">
                  <c:v>12.96</c:v>
                </c:pt>
                <c:pt idx="5">
                  <c:v>11.64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/>
            </a:pPr>
            <a:r>
              <a:t>Multi-Metric Comparison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14.95</c:v>
                </c:pt>
                <c:pt idx="1">
                  <c:v>11.64</c:v>
                </c:pt>
                <c:pt idx="2">
                  <c:v>12.96</c:v>
                </c:pt>
                <c:pt idx="3">
                  <c:v>27.8</c:v>
                </c:pt>
                <c:pt idx="4">
                  <c:v>17.28</c:v>
                </c:pt>
                <c:pt idx="5">
                  <c:v>15.37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Return_1Y_%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16.54</c:v>
                </c:pt>
                <c:pt idx="1">
                  <c:v>14.9</c:v>
                </c:pt>
                <c:pt idx="2">
                  <c:v>14.11</c:v>
                </c:pt>
                <c:pt idx="3">
                  <c:v>14.9</c:v>
                </c:pt>
                <c:pt idx="4">
                  <c:v>15.39</c:v>
                </c:pt>
                <c:pt idx="5">
                  <c:v>13.32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 Amarilla </c:v>
                </c:pt>
                <c:pt idx="1">
                  <c:v> Carretera </c:v>
                </c:pt>
                <c:pt idx="2">
                  <c:v> Montana </c:v>
                </c:pt>
                <c:pt idx="3">
                  <c:v> Paseo </c:v>
                </c:pt>
                <c:pt idx="4">
                  <c:v> VTT </c:v>
                </c:pt>
                <c:pt idx="5">
                  <c:v> Velo 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6.04</c:v>
                </c:pt>
                <c:pt idx="1">
                  <c:v>6.71</c:v>
                </c:pt>
                <c:pt idx="2">
                  <c:v>7.09</c:v>
                </c:pt>
                <c:pt idx="3">
                  <c:v>6.71</c:v>
                </c:pt>
                <c:pt idx="4">
                  <c:v>6.5</c:v>
                </c:pt>
                <c:pt idx="5">
                  <c:v>7.51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pPr>
              <a:defRPr sz="1600" b="1"/>
            </a:pPr>
            <a:r>
              <a:t>Category Distribution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2196F3"/>
              </a:solidFill>
            </c:spPr>
          </c:dPt>
          <c:cat>
            <c:strRef>
              <c:f>Sheet1!$A$2:$A$2</c:f>
              <c:strCache>
                <c:ptCount val="1"/>
                <c:pt idx="0">
                  <c:v>Consumer Goods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</c:v>
                </c:pt>
              </c:numCache>
            </c:numRef>
          </c:val>
        </c:ser>
        <c:dLbls>
          <c:showLegendKey val="0"/>
          <c:showVal val="1"/>
          <c:showCatName val="1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defRPr sz="4800" b="1">
                <a:solidFill>
                  <a:srgbClr val="C62828"/>
                </a:solidFill>
              </a:defRPr>
            </a:pPr>
            <a:r>
              <a:t>Financial Performance Analysis - Smart Charts &amp; Data-Driven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Generated on November 2025</a:t>
            </a:r>
          </a:p>
          <a:p>
            <a:r>
              <a:t>by Data Visualization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53935"/>
                </a:solidFill>
              </a:defRPr>
            </a:pPr>
            <a:r>
              <a:t>📊 Powered by Excel-to-PPT AI Converter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📊 Executive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8046720" cy="4754880"/>
          </a:xfrm>
          <a:prstGeom prst="rect">
            <a:avLst/>
          </a:prstGeom>
          <a:solidFill>
            <a:srgbClr val="F8F9FA"/>
          </a:solidFill>
          <a:ln w="25400">
            <a:solidFill>
              <a:srgbClr val="C8DC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6949440" cy="4114800"/>
          </a:xfrm>
          <a:prstGeom prst="rect">
            <a:avLst/>
          </a:prstGeom>
          <a:noFill/>
        </p:spPr>
        <p:txBody>
          <a:bodyPr wrap="square" lIns="182880">
            <a:spAutoFit/>
          </a:bodyPr>
          <a:lstStyle/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Analyzing 6 entities across 7 key metrics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 Paseo  leads with $27.80 in MarketCap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6 out of 6 showing positive Return 1Y % (100%)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Portfolio spans 1 sectors, Consumer Goods has 6 entities</a:t>
            </a:r>
          </a:p>
          <a:p>
            <a:pPr>
              <a:lnSpc>
                <a:spcPct val="130000"/>
              </a:lnSpc>
              <a:spcBef>
                <a:spcPts val="500"/>
              </a:spcBef>
              <a:spcAft>
                <a:spcPts val="1500"/>
              </a:spcAft>
              <a:defRPr sz="1800">
                <a:latin typeface="Calibri"/>
              </a:defRPr>
            </a:pPr>
            <a:r>
              <a:t>✓ Average P/E ratio of 6.8x indicates reasonable 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💵 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3840480" cy="2011680"/>
          </a:xfrm>
          <a:prstGeom prst="rect">
            <a:avLst/>
          </a:prstGeom>
          <a:solidFill>
            <a:srgbClr val="1F4E78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Total Market 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$0.0B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C8FFC8"/>
                </a:solidFill>
              </a:defRPr>
            </a:pPr>
            <a:r>
              <a:t>↗️ +12.5%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463040"/>
            <a:ext cx="3840480" cy="2011680"/>
          </a:xfrm>
          <a:prstGeom prst="rect">
            <a:avLst/>
          </a:prstGeom>
          <a:solidFill>
            <a:srgbClr val="4F81BD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737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1Y Return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286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14.9%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Moderate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49040"/>
            <a:ext cx="3840480" cy="2011680"/>
          </a:xfrm>
          <a:prstGeom prst="rect">
            <a:avLst/>
          </a:prstGeom>
          <a:solidFill>
            <a:srgbClr val="2E75B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Avg P/E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6.8x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  <a:r>
              <a:t>→ Stable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3749040"/>
            <a:ext cx="3840480" cy="2011680"/>
          </a:xfrm>
          <a:prstGeom prst="rect">
            <a:avLst/>
          </a:prstGeom>
          <a:solidFill>
            <a:srgbClr val="5B9BD5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4023360"/>
            <a:ext cx="3474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Portfolio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572000"/>
            <a:ext cx="3474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6 Stocks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512064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C8C8"/>
                </a:solidFill>
              </a:defRPr>
            </a:p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� Data Insights Dashboard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4754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🗂️ Sector Distribution Analysis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371600" y="1371600"/>
          <a:ext cx="6400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30352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Key Insight: "Consumer Goods accounts for 100% of the given category breakdown."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🏆 Top Performers - 1 Year Returns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48463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097280"/>
                <a:gridCol w="73152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Ticker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Company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1Y Return %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92A56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Amarilla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Amarilla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16.54%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VTT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VTT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15.39%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Carretera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Carretera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Paseo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Paseo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14.90%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 Montana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 Montana  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14.11%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/>
                      </a:pPr>
                      <a:r>
                        <a:t>🟠</a:t>
                      </a:r>
                    </a:p>
                  </a:txBody>
                  <a:tcPr>
                    <a:solidFill>
                      <a:srgbClr val="FFE0B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46634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6464"/>
                </a:solidFill>
              </a:defRPr>
            </a:pPr>
            <a:r>
              <a:t>Legend: 🟢 Strong (&gt;50%)  🟡 Good (20-50%)  🟠 Moderate (0-20%)  🔴 Negative (&lt;0%)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7680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30000"/>
              </a:lnSpc>
              <a:defRPr sz="1400" i="1">
                <a:solidFill>
                  <a:srgbClr val="343A40"/>
                </a:solidFill>
              </a:defRPr>
            </a:pPr>
            <a:r>
              <a:t>💡  Amarilla  ( Amarilla  Product) leads the portfolio with an impressive 16.54% annual return, demonstrating exceptional market performance and strong investor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2A56"/>
                </a:solidFill>
              </a:defRPr>
            </a:pPr>
            <a:r>
              <a:t>💼 AI Insights &amp; Market Predictions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37160" cy="1371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7D32"/>
                </a:solidFill>
              </a:defRPr>
            </a:pPr>
            <a:r>
              <a:t>📈 Top 3 Performers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2880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Data analysis in progress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Performance metrics being calculated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Trends under evaluation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017520"/>
            <a:ext cx="137160" cy="1371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3017520"/>
            <a:ext cx="731520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0896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65100"/>
                </a:solidFill>
              </a:defRPr>
            </a:pPr>
            <a:r>
              <a:t>⚠️ Anomalies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47472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No significant anomalies detected in current dataset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663440"/>
            <a:ext cx="137160" cy="1371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4663440"/>
            <a:ext cx="7315200" cy="1371600"/>
          </a:xfrm>
          <a:prstGeom prst="rect">
            <a:avLst/>
          </a:prstGeom>
          <a:solidFill>
            <a:srgbClr val="FAFAFA"/>
          </a:solidFill>
          <a:ln w="1270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976D2"/>
                </a:solidFill>
              </a:defRPr>
            </a:pPr>
            <a:r>
              <a:t>💡 Predicted Trends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20640"/>
            <a:ext cx="6675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Insufficient historical data for accurate predictions</a:t>
            </a:r>
          </a:p>
          <a:p>
            <a:pPr>
              <a:lnSpc>
                <a:spcPct val="120000"/>
              </a:lnSpc>
              <a:spcAft>
                <a:spcPts val="300"/>
              </a:spcAft>
              <a:defRPr sz="1400"/>
            </a:pPr>
            <a:r>
              <a:t>→ Continued monitoring recommended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0"/>
            <a:ext cx="9144000" cy="137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C62828"/>
                </a:solidFill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646464"/>
                </a:solidFill>
              </a:defRPr>
            </a:pPr>
            <a:r>
              <a:t>Data Visualization Labs</a:t>
            </a:r>
          </a:p>
          <a:p>
            <a:r>
              <a:t>test@improved.com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969696"/>
                </a:solidFill>
              </a:defRPr>
            </a:pPr>
            <a:r>
              <a:t>📊 Generated via Excel-to-PPT AI Converter</a:t>
            </a:r>
          </a:p>
          <a:p>
            <a:r>
              <a:t>www.exceltoppt.ai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