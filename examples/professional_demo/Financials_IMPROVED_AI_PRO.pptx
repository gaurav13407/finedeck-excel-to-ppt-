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Top Items by MarketCap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dPt>
            <c:idx val="5"/>
            <c:spPr>
              <a:solidFill>
                <a:srgbClr val="FF9800"/>
              </a:solidFill>
            </c:spPr>
          </c:dPt>
          <c:cat>
            <c:strRef>
              <c:f>Sheet1!$A$2:$A$7</c:f>
              <c:strCache>
                <c:ptCount val="6"/>
                <c:pt idx="0">
                  <c:v> Paseo </c:v>
                </c:pt>
                <c:pt idx="1">
                  <c:v> VTT </c:v>
                </c:pt>
                <c:pt idx="2">
                  <c:v> Velo </c:v>
                </c:pt>
                <c:pt idx="3">
                  <c:v> Amarilla </c:v>
                </c:pt>
                <c:pt idx="4">
                  <c:v> Montana </c:v>
                </c:pt>
                <c:pt idx="5">
                  <c:v> Carretera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27.8</c:v>
                </c:pt>
                <c:pt idx="1">
                  <c:v>17.28</c:v>
                </c:pt>
                <c:pt idx="2">
                  <c:v>15.37</c:v>
                </c:pt>
                <c:pt idx="3">
                  <c:v>14.95</c:v>
                </c:pt>
                <c:pt idx="4">
                  <c:v>12.96</c:v>
                </c:pt>
                <c:pt idx="5">
                  <c:v>11.64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Multi-Metric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MarketCap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14.95</c:v>
                </c:pt>
                <c:pt idx="1">
                  <c:v>11.64</c:v>
                </c:pt>
                <c:pt idx="2">
                  <c:v>12.96</c:v>
                </c:pt>
                <c:pt idx="3">
                  <c:v>27.8</c:v>
                </c:pt>
                <c:pt idx="4">
                  <c:v>17.28</c:v>
                </c:pt>
                <c:pt idx="5">
                  <c:v>15.37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Return_1Y_%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16.54</c:v>
                </c:pt>
                <c:pt idx="1">
                  <c:v>14.9</c:v>
                </c:pt>
                <c:pt idx="2">
                  <c:v>14.11</c:v>
                </c:pt>
                <c:pt idx="3">
                  <c:v>14.9</c:v>
                </c:pt>
                <c:pt idx="4">
                  <c:v>15.39</c:v>
                </c:pt>
                <c:pt idx="5">
                  <c:v>13.32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TrailingPE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6.04</c:v>
                </c:pt>
                <c:pt idx="1">
                  <c:v>6.71</c:v>
                </c:pt>
                <c:pt idx="2">
                  <c:v>7.09</c:v>
                </c:pt>
                <c:pt idx="3">
                  <c:v>6.71</c:v>
                </c:pt>
                <c:pt idx="4">
                  <c:v>6.5</c:v>
                </c:pt>
                <c:pt idx="5">
                  <c:v>7.51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Distribution by Sector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dPt>
            <c:idx val="5"/>
            <c:spPr>
              <a:solidFill>
                <a:srgbClr val="FF9800"/>
              </a:solidFill>
            </c:spPr>
          </c:dPt>
          <c:cat>
            <c:strRef>
              <c:f>Sheet1!$A$2:$A$7</c:f>
              <c:strCache>
                <c:ptCount val="6"/>
                <c:pt idx="0">
                  <c:v>Consumer Goods</c:v>
                </c:pt>
                <c:pt idx="1">
                  <c:v>Consumer Goods</c:v>
                </c:pt>
                <c:pt idx="2">
                  <c:v>Consumer Goods</c:v>
                </c:pt>
                <c:pt idx="3">
                  <c:v>Consumer Goods</c:v>
                </c:pt>
                <c:pt idx="4">
                  <c:v>Consumer Goods</c:v>
                </c:pt>
                <c:pt idx="5">
                  <c:v>Consumer Goods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27.8</c:v>
                </c:pt>
                <c:pt idx="1">
                  <c:v>17.28</c:v>
                </c:pt>
                <c:pt idx="2">
                  <c:v>15.37</c:v>
                </c:pt>
                <c:pt idx="3">
                  <c:v>14.95</c:v>
                </c:pt>
                <c:pt idx="4">
                  <c:v>12.96</c:v>
                </c:pt>
                <c:pt idx="5">
                  <c:v>11.64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800" b="1">
                <a:solidFill>
                  <a:srgbClr val="C62828"/>
                </a:solidFill>
              </a:defRPr>
            </a:pPr>
            <a:r>
              <a:t>Financial Performance Analysis - Smart Charts &amp; Data-Driven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Data Visualization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3935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114800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Analyzing 6 entities across 7 key metrics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 Paseo  leads with $27.80 in MarketCap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6 out of 6 showing positive Return 1Y % (100%)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Portfolio spans 1 sectors, Consumer Goods has 6 entities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Average P/E ratio of 6.8x indicates reasonable 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solidFill>
            <a:srgbClr val="1F4E78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Market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$0.0B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FFC8"/>
                </a:solidFill>
              </a:defRPr>
            </a:pPr>
            <a:r>
              <a:t>↗️ +12.5%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solidFill>
            <a:srgbClr val="4F81BD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14.9%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Moderate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3840480" cy="2011680"/>
          </a:xfrm>
          <a:prstGeom prst="rect">
            <a:avLst/>
          </a:prstGeom>
          <a:solidFill>
            <a:srgbClr val="2E75B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P/E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Stable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749040"/>
            <a:ext cx="3840480" cy="2011680"/>
          </a:xfrm>
          <a:prstGeom prst="rect">
            <a:avLst/>
          </a:prstGeom>
          <a:solidFill>
            <a:srgbClr val="5B9BD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Portfolio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 Stocks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� Data Insights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🗂️ Sector Distribution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🏆 Top Performers - 1 Year Returns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097280"/>
                <a:gridCol w="7315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1Y Return %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Amarilla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Amarilla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16.54%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VTT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VTT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15.39%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Carretera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Carretera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Paseo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Paseo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Montana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Montana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Legend: 🟢 Strong (&gt;50%)  🟡 Good (20-50%)  🟠 Moderate (0-20%)  🔴 Negative (&lt;0%)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 Amarilla  ( Amarilla  Product) leads the portfolio with an impressive 16.54% annual return, demonstrating exceptional market performance and strong investor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� 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🏆 Top Performers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 Amarilla  showed strong momentum with 16.5% annual return and $0.0B market cap, demonstrating solid investor confidence.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 VTT  showed strong momentum with 15.4% annual return and $0.0B market cap, demonstrating solid investor confidence.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 Carretera  showed strong momentum with 14.9% annual return and $0.0B market cap, demonstrating solid investor confidence.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37160" cy="1371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96F3"/>
                </a:solidFill>
              </a:defRPr>
            </a:pPr>
            <a:r>
              <a:t>📊 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747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Analysis in progress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137160" cy="1371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107"/>
                </a:solidFill>
              </a:defRPr>
            </a:pPr>
            <a:r>
              <a:t>💡 Data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2064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More data needed for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6282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Data Visualization Labs</a:t>
            </a:r>
          </a:p>
          <a:p>
            <a:r>
              <a:t>test@improved.com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