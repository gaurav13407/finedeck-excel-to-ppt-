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 b="1"/>
            </a:pPr>
            <a:r>
              <a:t>Top Items by MarketCap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2196F3"/>
              </a:solidFill>
            </c:spPr>
          </c:dPt>
          <c:dPt>
            <c:idx val="1"/>
            <c:spPr>
              <a:solidFill>
                <a:srgbClr val="2E7D32"/>
              </a:solidFill>
            </c:spPr>
          </c:dPt>
          <c:dPt>
            <c:idx val="2"/>
            <c:spPr>
              <a:solidFill>
                <a:srgbClr val="FFC107"/>
              </a:solidFill>
            </c:spPr>
          </c:dPt>
          <c:dPt>
            <c:idx val="3"/>
            <c:spPr>
              <a:solidFill>
                <a:srgbClr val="D32F2F"/>
              </a:solidFill>
            </c:spPr>
          </c:dPt>
          <c:dPt>
            <c:idx val="4"/>
            <c:spPr>
              <a:solidFill>
                <a:srgbClr val="9C27B0"/>
              </a:solidFill>
            </c:spPr>
          </c:dPt>
          <c:dPt>
            <c:idx val="5"/>
            <c:spPr>
              <a:solidFill>
                <a:srgbClr val="FF9800"/>
              </a:solidFill>
            </c:spPr>
          </c:dPt>
          <c:cat>
            <c:strRef>
              <c:f>Sheet1!$A$2:$A$7</c:f>
              <c:strCache>
                <c:ptCount val="6"/>
                <c:pt idx="0">
                  <c:v> Paseo </c:v>
                </c:pt>
                <c:pt idx="1">
                  <c:v> VTT </c:v>
                </c:pt>
                <c:pt idx="2">
                  <c:v> Velo </c:v>
                </c:pt>
                <c:pt idx="3">
                  <c:v> Amarilla </c:v>
                </c:pt>
                <c:pt idx="4">
                  <c:v> Montana </c:v>
                </c:pt>
                <c:pt idx="5">
                  <c:v> Carretera 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27.8</c:v>
                </c:pt>
                <c:pt idx="1">
                  <c:v>17.28</c:v>
                </c:pt>
                <c:pt idx="2">
                  <c:v>15.37</c:v>
                </c:pt>
                <c:pt idx="3">
                  <c:v>14.95</c:v>
                </c:pt>
                <c:pt idx="4">
                  <c:v>12.96</c:v>
                </c:pt>
                <c:pt idx="5">
                  <c:v>11.64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 b="1"/>
            </a:pPr>
            <a:r>
              <a:t>Multi-Metric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MarketCap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 Amarilla </c:v>
                </c:pt>
                <c:pt idx="1">
                  <c:v> Carretera </c:v>
                </c:pt>
                <c:pt idx="2">
                  <c:v> Montana </c:v>
                </c:pt>
                <c:pt idx="3">
                  <c:v> Paseo </c:v>
                </c:pt>
                <c:pt idx="4">
                  <c:v> VTT </c:v>
                </c:pt>
                <c:pt idx="5">
                  <c:v> Velo 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14.95</c:v>
                </c:pt>
                <c:pt idx="1">
                  <c:v>11.64</c:v>
                </c:pt>
                <c:pt idx="2">
                  <c:v>12.96</c:v>
                </c:pt>
                <c:pt idx="3">
                  <c:v>27.8</c:v>
                </c:pt>
                <c:pt idx="4">
                  <c:v>17.28</c:v>
                </c:pt>
                <c:pt idx="5">
                  <c:v>15.37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Return_1Y_%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 Amarilla </c:v>
                </c:pt>
                <c:pt idx="1">
                  <c:v> Carretera </c:v>
                </c:pt>
                <c:pt idx="2">
                  <c:v> Montana </c:v>
                </c:pt>
                <c:pt idx="3">
                  <c:v> Paseo </c:v>
                </c:pt>
                <c:pt idx="4">
                  <c:v> VTT </c:v>
                </c:pt>
                <c:pt idx="5">
                  <c:v> Velo 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16.54</c:v>
                </c:pt>
                <c:pt idx="1">
                  <c:v>14.9</c:v>
                </c:pt>
                <c:pt idx="2">
                  <c:v>14.11</c:v>
                </c:pt>
                <c:pt idx="3">
                  <c:v>14.9</c:v>
                </c:pt>
                <c:pt idx="4">
                  <c:v>15.39</c:v>
                </c:pt>
                <c:pt idx="5">
                  <c:v>13.32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TrailingPE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 Amarilla </c:v>
                </c:pt>
                <c:pt idx="1">
                  <c:v> Carretera </c:v>
                </c:pt>
                <c:pt idx="2">
                  <c:v> Montana </c:v>
                </c:pt>
                <c:pt idx="3">
                  <c:v> Paseo </c:v>
                </c:pt>
                <c:pt idx="4">
                  <c:v> VTT </c:v>
                </c:pt>
                <c:pt idx="5">
                  <c:v> Velo 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6.04</c:v>
                </c:pt>
                <c:pt idx="1">
                  <c:v>6.71</c:v>
                </c:pt>
                <c:pt idx="2">
                  <c:v>7.09</c:v>
                </c:pt>
                <c:pt idx="3">
                  <c:v>6.71</c:v>
                </c:pt>
                <c:pt idx="4">
                  <c:v>6.5</c:v>
                </c:pt>
                <c:pt idx="5">
                  <c:v>7.51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 b="1"/>
            </a:pPr>
            <a:r>
              <a:t>Distribution by Sector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2196F3"/>
              </a:solidFill>
            </c:spPr>
          </c:dPt>
          <c:dPt>
            <c:idx val="1"/>
            <c:spPr>
              <a:solidFill>
                <a:srgbClr val="2E7D32"/>
              </a:solidFill>
            </c:spPr>
          </c:dPt>
          <c:dPt>
            <c:idx val="2"/>
            <c:spPr>
              <a:solidFill>
                <a:srgbClr val="FFC107"/>
              </a:solidFill>
            </c:spPr>
          </c:dPt>
          <c:dPt>
            <c:idx val="3"/>
            <c:spPr>
              <a:solidFill>
                <a:srgbClr val="D32F2F"/>
              </a:solidFill>
            </c:spPr>
          </c:dPt>
          <c:dPt>
            <c:idx val="4"/>
            <c:spPr>
              <a:solidFill>
                <a:srgbClr val="9C27B0"/>
              </a:solidFill>
            </c:spPr>
          </c:dPt>
          <c:dPt>
            <c:idx val="5"/>
            <c:spPr>
              <a:solidFill>
                <a:srgbClr val="FF9800"/>
              </a:solidFill>
            </c:spPr>
          </c:dPt>
          <c:cat>
            <c:strRef>
              <c:f>Sheet1!$A$2:$A$7</c:f>
              <c:strCache>
                <c:ptCount val="6"/>
                <c:pt idx="0">
                  <c:v>Consumer Goods</c:v>
                </c:pt>
                <c:pt idx="1">
                  <c:v>Consumer Goods</c:v>
                </c:pt>
                <c:pt idx="2">
                  <c:v>Consumer Goods</c:v>
                </c:pt>
                <c:pt idx="3">
                  <c:v>Consumer Goods</c:v>
                </c:pt>
                <c:pt idx="4">
                  <c:v>Consumer Goods</c:v>
                </c:pt>
                <c:pt idx="5">
                  <c:v>Consumer Goods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27.8</c:v>
                </c:pt>
                <c:pt idx="1">
                  <c:v>17.28</c:v>
                </c:pt>
                <c:pt idx="2">
                  <c:v>15.37</c:v>
                </c:pt>
                <c:pt idx="3">
                  <c:v>14.95</c:v>
                </c:pt>
                <c:pt idx="4">
                  <c:v>12.96</c:v>
                </c:pt>
                <c:pt idx="5">
                  <c:v>11.64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4800" b="1">
                <a:solidFill>
                  <a:srgbClr val="C62828"/>
                </a:solidFill>
              </a:defRPr>
            </a:pPr>
            <a:r>
              <a:t>Financial Performance Analysis - Smart Charts &amp; Data-Driven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Generated on November 2025</a:t>
            </a:r>
          </a:p>
          <a:p>
            <a:r>
              <a:t>by Data Visualization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53935"/>
                </a:solidFill>
              </a:defRPr>
            </a:pPr>
            <a:r>
              <a:t>📊 Powered by Excel-to-PPT AI Converter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📊 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046720" cy="4754880"/>
          </a:xfrm>
          <a:prstGeom prst="rect">
            <a:avLst/>
          </a:prstGeom>
          <a:solidFill>
            <a:srgbClr val="F8F9FA"/>
          </a:solidFill>
          <a:ln w="2540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6949440" cy="4114800"/>
          </a:xfrm>
          <a:prstGeom prst="rect">
            <a:avLst/>
          </a:prstGeom>
          <a:noFill/>
        </p:spPr>
        <p:txBody>
          <a:bodyPr wrap="square" lIns="182880">
            <a:spAutoFit/>
          </a:bodyPr>
          <a:lstStyle/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Analyzing 6 entities across 7 key metrics</a:t>
            </a:r>
          </a:p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 Paseo  leads with $27.80 in MarketCap</a:t>
            </a:r>
          </a:p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6 out of 6 showing positive Return 1Y % (100%)</a:t>
            </a:r>
          </a:p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Portfolio spans 1 sectors, Consumer Goods has 6 entities</a:t>
            </a:r>
          </a:p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Average P/E ratio of 6.8x indicates reasonable valuation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💵 Key Metrics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3840480" cy="2011680"/>
          </a:xfrm>
          <a:prstGeom prst="rect">
            <a:avLst/>
          </a:prstGeom>
          <a:solidFill>
            <a:srgbClr val="1F4E78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Total Market 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$100.00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FFC8"/>
                </a:solidFill>
              </a:defRPr>
            </a:pPr>
            <a:r>
              <a:t>↗️ +12.5%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463040"/>
            <a:ext cx="3840480" cy="2011680"/>
          </a:xfrm>
          <a:prstGeom prst="rect">
            <a:avLst/>
          </a:prstGeom>
          <a:solidFill>
            <a:srgbClr val="4F81BD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737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Avg 1Y Return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2860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14.9%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8346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  <a:r>
              <a:t>→ Moderate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40"/>
            <a:ext cx="3840480" cy="2011680"/>
          </a:xfrm>
          <a:prstGeom prst="rect">
            <a:avLst/>
          </a:prstGeom>
          <a:solidFill>
            <a:srgbClr val="2E75B5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Avg P/E 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6.8x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206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  <a:r>
              <a:t>→ Stable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3749040"/>
            <a:ext cx="3840480" cy="2011680"/>
          </a:xfrm>
          <a:prstGeom prst="rect">
            <a:avLst/>
          </a:prstGeom>
          <a:solidFill>
            <a:srgbClr val="5B9BD5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4023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Portfolio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45720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6 Stocks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51206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� Data Insights Dashboard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39319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754880" y="1188720"/>
          <a:ext cx="3931920" cy="4754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🗂️ Sector Distribution Analysis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371600"/>
          <a:ext cx="6400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3035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defRPr sz="1400" i="1">
                <a:solidFill>
                  <a:srgbClr val="343A40"/>
                </a:solidFill>
              </a:defRPr>
            </a:pPr>
            <a:r>
              <a:t>💡 Key Insight: Consumer Goods: 6 out of 6 entities (100.0%)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🏆 Top Performers - 1 Year Returns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371600"/>
          <a:ext cx="48463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1097280"/>
                <a:gridCol w="73152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Ticker</a:t>
                      </a:r>
                    </a:p>
                  </a:txBody>
                  <a:tcPr>
                    <a:solidFill>
                      <a:srgbClr val="192A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Company</a:t>
                      </a:r>
                    </a:p>
                  </a:txBody>
                  <a:tcPr>
                    <a:solidFill>
                      <a:srgbClr val="192A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1Y Return %</a:t>
                      </a:r>
                    </a:p>
                  </a:txBody>
                  <a:tcPr>
                    <a:solidFill>
                      <a:srgbClr val="192A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92A5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 Amarilla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 Amarilla  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16.54%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🟠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 VTT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 VTT  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15.39%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🟠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 Carretera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 Carretera  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14.90%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🟠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 Paseo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 Paseo  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14.90%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🟠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 Montana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 Montana  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14.11%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🟠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46634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Legend: 🟢 Strong (&gt;50%)  🟡 Good (20-50%)  🟠 Moderate (0-20%)  🔴 Negative (&lt;0%)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defRPr sz="1400" i="1">
                <a:solidFill>
                  <a:srgbClr val="343A40"/>
                </a:solidFill>
              </a:defRPr>
            </a:pPr>
            <a:r>
              <a:t>💡  Amarilla  ( Amarilla  Product) leads the portfolio with an impressive 16.54% annual return, demonstrating exceptional market performance and strong investor confidence.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� Key Data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solidFill>
            <a:srgbClr val="F8F9FA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6949440" cy="3840480"/>
          </a:xfrm>
          <a:prstGeom prst="rect">
            <a:avLst/>
          </a:prstGeom>
          <a:noFill/>
        </p:spPr>
        <p:txBody>
          <a:bodyPr wrap="square" lIns="182880">
            <a:spAutoFit/>
          </a:bodyPr>
          <a:lstStyle/>
          <a:p>
            <a:pPr>
              <a:lnSpc>
                <a:spcPct val="130000"/>
              </a:lnSpc>
              <a:spcBef>
                <a:spcPts val="500"/>
              </a:spcBef>
              <a:spcAft>
                <a:spcPts val="1200"/>
              </a:spcAft>
              <a:defRPr sz="1600">
                <a:solidFill>
                  <a:srgbClr val="343A40"/>
                </a:solidFill>
                <a:latin typeface="Calibri"/>
              </a:defRPr>
            </a:pPr>
            <a:r>
              <a:t>✓  Amarilla  showed strong momentum with 16.5% annual return and $14.95 market cap, demonstrating solid investor confidence.</a:t>
            </a:r>
          </a:p>
          <a:p>
            <a:pPr>
              <a:lnSpc>
                <a:spcPct val="130000"/>
              </a:lnSpc>
              <a:spcBef>
                <a:spcPts val="500"/>
              </a:spcBef>
              <a:spcAft>
                <a:spcPts val="1200"/>
              </a:spcAft>
              <a:defRPr sz="1600">
                <a:solidFill>
                  <a:srgbClr val="343A40"/>
                </a:solidFill>
                <a:latin typeface="Calibri"/>
              </a:defRPr>
            </a:pPr>
            <a:r>
              <a:t>✓  VTT  showed strong momentum with 15.4% annual return and $17.28 market cap, demonstrating solid investor confidence.</a:t>
            </a:r>
          </a:p>
          <a:p>
            <a:pPr>
              <a:lnSpc>
                <a:spcPct val="130000"/>
              </a:lnSpc>
              <a:spcBef>
                <a:spcPts val="500"/>
              </a:spcBef>
              <a:spcAft>
                <a:spcPts val="1200"/>
              </a:spcAft>
              <a:defRPr sz="1600">
                <a:solidFill>
                  <a:srgbClr val="343A40"/>
                </a:solidFill>
                <a:latin typeface="Calibri"/>
              </a:defRPr>
            </a:pPr>
            <a:r>
              <a:t>✓  Carretera  showed strong momentum with 14.9% annual return and $11.64 market cap, demonstrating solid investor confidence.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C62828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Data Visualization Labs</a:t>
            </a:r>
          </a:p>
          <a:p>
            <a:r>
              <a:t>test@improved.com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69696"/>
                </a:solidFill>
              </a:defRPr>
            </a:pPr>
            <a:r>
              <a:t>📊 Generated via Excel-to-PPT AI Converter</a:t>
            </a:r>
          </a:p>
          <a:p>
            <a:r>
              <a:t>www.exceltoppt.ai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