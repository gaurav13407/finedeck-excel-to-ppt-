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AAPL_Prices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2025-10-16</c:v>
                </c:pt>
                <c:pt idx="1">
                  <c:v>2025-10-17</c:v>
                </c:pt>
                <c:pt idx="2">
                  <c:v>2025-10-20</c:v>
                </c:pt>
                <c:pt idx="3">
                  <c:v>2025-10-21</c:v>
                </c:pt>
                <c:pt idx="4">
                  <c:v>2025-10-22</c:v>
                </c:pt>
                <c:pt idx="5">
                  <c:v>2025-10-23</c:v>
                </c:pt>
                <c:pt idx="6">
                  <c:v>2025-10-24</c:v>
                </c:pt>
                <c:pt idx="7">
                  <c:v>2025-10-27</c:v>
                </c:pt>
                <c:pt idx="8">
                  <c:v>2025-10-28</c:v>
                </c:pt>
                <c:pt idx="9">
                  <c:v>2025-10-29</c:v>
                </c:pt>
                <c:pt idx="10">
                  <c:v>2025-10-30</c:v>
                </c:pt>
                <c:pt idx="11">
                  <c:v>2025-10-31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248.25</c:v>
                </c:pt>
                <c:pt idx="1">
                  <c:v>248.0200042724609</c:v>
                </c:pt>
                <c:pt idx="2">
                  <c:v>255.8899993896484</c:v>
                </c:pt>
                <c:pt idx="3">
                  <c:v>261.8800048828125</c:v>
                </c:pt>
                <c:pt idx="4">
                  <c:v>262.6499938964844</c:v>
                </c:pt>
                <c:pt idx="5">
                  <c:v>259.9400024414062</c:v>
                </c:pt>
                <c:pt idx="6">
                  <c:v>261.1900024414062</c:v>
                </c:pt>
                <c:pt idx="7">
                  <c:v>264.8800048828125</c:v>
                </c:pt>
                <c:pt idx="8">
                  <c:v>268.989990234375</c:v>
                </c:pt>
                <c:pt idx="9">
                  <c:v>269.2799987792969</c:v>
                </c:pt>
                <c:pt idx="10">
                  <c:v>271.989990234375</c:v>
                </c:pt>
                <c:pt idx="11">
                  <c:v>276.989990234375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2025-10-16</c:v>
                </c:pt>
                <c:pt idx="1">
                  <c:v>2025-10-17</c:v>
                </c:pt>
                <c:pt idx="2">
                  <c:v>2025-10-20</c:v>
                </c:pt>
                <c:pt idx="3">
                  <c:v>2025-10-21</c:v>
                </c:pt>
                <c:pt idx="4">
                  <c:v>2025-10-22</c:v>
                </c:pt>
                <c:pt idx="5">
                  <c:v>2025-10-23</c:v>
                </c:pt>
                <c:pt idx="6">
                  <c:v>2025-10-24</c:v>
                </c:pt>
                <c:pt idx="7">
                  <c:v>2025-10-27</c:v>
                </c:pt>
                <c:pt idx="8">
                  <c:v>2025-10-28</c:v>
                </c:pt>
                <c:pt idx="9">
                  <c:v>2025-10-29</c:v>
                </c:pt>
                <c:pt idx="10">
                  <c:v>2025-10-30</c:v>
                </c:pt>
                <c:pt idx="11">
                  <c:v>2025-10-31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249.0399932861328</c:v>
                </c:pt>
                <c:pt idx="1">
                  <c:v>253.3800048828125</c:v>
                </c:pt>
                <c:pt idx="2">
                  <c:v>264.3800048828125</c:v>
                </c:pt>
                <c:pt idx="3">
                  <c:v>265.2900085449219</c:v>
                </c:pt>
                <c:pt idx="4">
                  <c:v>262.8500061035156</c:v>
                </c:pt>
                <c:pt idx="5">
                  <c:v>260.6199951171875</c:v>
                </c:pt>
                <c:pt idx="6">
                  <c:v>264.1300048828125</c:v>
                </c:pt>
                <c:pt idx="7">
                  <c:v>269.1199951171875</c:v>
                </c:pt>
                <c:pt idx="8">
                  <c:v>269.8900146484375</c:v>
                </c:pt>
                <c:pt idx="9">
                  <c:v>271.4100036621094</c:v>
                </c:pt>
                <c:pt idx="10">
                  <c:v>274.1400146484375</c:v>
                </c:pt>
                <c:pt idx="11">
                  <c:v>277.3200073242188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2025-10-16</c:v>
                </c:pt>
                <c:pt idx="1">
                  <c:v>2025-10-17</c:v>
                </c:pt>
                <c:pt idx="2">
                  <c:v>2025-10-20</c:v>
                </c:pt>
                <c:pt idx="3">
                  <c:v>2025-10-21</c:v>
                </c:pt>
                <c:pt idx="4">
                  <c:v>2025-10-22</c:v>
                </c:pt>
                <c:pt idx="5">
                  <c:v>2025-10-23</c:v>
                </c:pt>
                <c:pt idx="6">
                  <c:v>2025-10-24</c:v>
                </c:pt>
                <c:pt idx="7">
                  <c:v>2025-10-27</c:v>
                </c:pt>
                <c:pt idx="8">
                  <c:v>2025-10-28</c:v>
                </c:pt>
                <c:pt idx="9">
                  <c:v>2025-10-29</c:v>
                </c:pt>
                <c:pt idx="10">
                  <c:v>2025-10-30</c:v>
                </c:pt>
                <c:pt idx="11">
                  <c:v>2025-10-31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245.1300048828125</c:v>
                </c:pt>
                <c:pt idx="1">
                  <c:v>247.2700042724609</c:v>
                </c:pt>
                <c:pt idx="2">
                  <c:v>255.6300048828125</c:v>
                </c:pt>
                <c:pt idx="3">
                  <c:v>261.8299865722656</c:v>
                </c:pt>
                <c:pt idx="4">
                  <c:v>255.4299926757812</c:v>
                </c:pt>
                <c:pt idx="5">
                  <c:v>258.010009765625</c:v>
                </c:pt>
                <c:pt idx="6">
                  <c:v>259.1799926757812</c:v>
                </c:pt>
                <c:pt idx="7">
                  <c:v>264.6499938964844</c:v>
                </c:pt>
                <c:pt idx="8">
                  <c:v>268.1499938964844</c:v>
                </c:pt>
                <c:pt idx="9">
                  <c:v>267.1099853515625</c:v>
                </c:pt>
                <c:pt idx="10">
                  <c:v>268.4800109863281</c:v>
                </c:pt>
                <c:pt idx="11">
                  <c:v>269.1600036621094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MSFT_Prices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2025-10-16</c:v>
                </c:pt>
                <c:pt idx="1">
                  <c:v>2025-10-17</c:v>
                </c:pt>
                <c:pt idx="2">
                  <c:v>2025-10-20</c:v>
                </c:pt>
                <c:pt idx="3">
                  <c:v>2025-10-21</c:v>
                </c:pt>
                <c:pt idx="4">
                  <c:v>2025-10-22</c:v>
                </c:pt>
                <c:pt idx="5">
                  <c:v>2025-10-23</c:v>
                </c:pt>
                <c:pt idx="6">
                  <c:v>2025-10-24</c:v>
                </c:pt>
                <c:pt idx="7">
                  <c:v>2025-10-27</c:v>
                </c:pt>
                <c:pt idx="8">
                  <c:v>2025-10-28</c:v>
                </c:pt>
                <c:pt idx="9">
                  <c:v>2025-10-29</c:v>
                </c:pt>
                <c:pt idx="10">
                  <c:v>2025-10-30</c:v>
                </c:pt>
                <c:pt idx="11">
                  <c:v>2025-10-31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512.5800170898438</c:v>
                </c:pt>
                <c:pt idx="1">
                  <c:v>509.0400085449219</c:v>
                </c:pt>
                <c:pt idx="2">
                  <c:v>514.6099853515625</c:v>
                </c:pt>
                <c:pt idx="3">
                  <c:v>517.5</c:v>
                </c:pt>
                <c:pt idx="4">
                  <c:v>521.1500244140625</c:v>
                </c:pt>
                <c:pt idx="5">
                  <c:v>522.4600219726562</c:v>
                </c:pt>
                <c:pt idx="6">
                  <c:v>522.7899780273438</c:v>
                </c:pt>
                <c:pt idx="7">
                  <c:v>531.780029296875</c:v>
                </c:pt>
                <c:pt idx="8">
                  <c:v>550.0</c:v>
                </c:pt>
                <c:pt idx="9">
                  <c:v>544.9400024414062</c:v>
                </c:pt>
                <c:pt idx="10">
                  <c:v>530.47998046875</c:v>
                </c:pt>
                <c:pt idx="11">
                  <c:v>528.8800048828125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2025-10-16</c:v>
                </c:pt>
                <c:pt idx="1">
                  <c:v>2025-10-17</c:v>
                </c:pt>
                <c:pt idx="2">
                  <c:v>2025-10-20</c:v>
                </c:pt>
                <c:pt idx="3">
                  <c:v>2025-10-21</c:v>
                </c:pt>
                <c:pt idx="4">
                  <c:v>2025-10-22</c:v>
                </c:pt>
                <c:pt idx="5">
                  <c:v>2025-10-23</c:v>
                </c:pt>
                <c:pt idx="6">
                  <c:v>2025-10-24</c:v>
                </c:pt>
                <c:pt idx="7">
                  <c:v>2025-10-27</c:v>
                </c:pt>
                <c:pt idx="8">
                  <c:v>2025-10-28</c:v>
                </c:pt>
                <c:pt idx="9">
                  <c:v>2025-10-29</c:v>
                </c:pt>
                <c:pt idx="10">
                  <c:v>2025-10-30</c:v>
                </c:pt>
                <c:pt idx="11">
                  <c:v>2025-10-31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516.8499755859375</c:v>
                </c:pt>
                <c:pt idx="1">
                  <c:v>515.47998046875</c:v>
                </c:pt>
                <c:pt idx="2">
                  <c:v>518.7000122070312</c:v>
                </c:pt>
                <c:pt idx="3">
                  <c:v>518.6900024414062</c:v>
                </c:pt>
                <c:pt idx="4">
                  <c:v>525.22998046875</c:v>
                </c:pt>
                <c:pt idx="5">
                  <c:v>523.9500122070312</c:v>
                </c:pt>
                <c:pt idx="6">
                  <c:v>525.3499755859375</c:v>
                </c:pt>
                <c:pt idx="7">
                  <c:v>534.5800170898438</c:v>
                </c:pt>
                <c:pt idx="8">
                  <c:v>553.719970703125</c:v>
                </c:pt>
                <c:pt idx="9">
                  <c:v>546.27001953125</c:v>
                </c:pt>
                <c:pt idx="10">
                  <c:v>534.969970703125</c:v>
                </c:pt>
                <c:pt idx="11">
                  <c:v>529.3200073242188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2025-10-16</c:v>
                </c:pt>
                <c:pt idx="1">
                  <c:v>2025-10-17</c:v>
                </c:pt>
                <c:pt idx="2">
                  <c:v>2025-10-20</c:v>
                </c:pt>
                <c:pt idx="3">
                  <c:v>2025-10-21</c:v>
                </c:pt>
                <c:pt idx="4">
                  <c:v>2025-10-22</c:v>
                </c:pt>
                <c:pt idx="5">
                  <c:v>2025-10-23</c:v>
                </c:pt>
                <c:pt idx="6">
                  <c:v>2025-10-24</c:v>
                </c:pt>
                <c:pt idx="7">
                  <c:v>2025-10-27</c:v>
                </c:pt>
                <c:pt idx="8">
                  <c:v>2025-10-28</c:v>
                </c:pt>
                <c:pt idx="9">
                  <c:v>2025-10-29</c:v>
                </c:pt>
                <c:pt idx="10">
                  <c:v>2025-10-30</c:v>
                </c:pt>
                <c:pt idx="11">
                  <c:v>2025-10-31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508.1300048828125</c:v>
                </c:pt>
                <c:pt idx="1">
                  <c:v>507.3099975585938</c:v>
                </c:pt>
                <c:pt idx="2">
                  <c:v>513.4299926757812</c:v>
                </c:pt>
                <c:pt idx="3">
                  <c:v>513.0399780273438</c:v>
                </c:pt>
                <c:pt idx="4">
                  <c:v>517.7100219726562</c:v>
                </c:pt>
                <c:pt idx="5">
                  <c:v>518.6099853515625</c:v>
                </c:pt>
                <c:pt idx="6">
                  <c:v>520.7100219726562</c:v>
                </c:pt>
                <c:pt idx="7">
                  <c:v>529.010009765625</c:v>
                </c:pt>
                <c:pt idx="8">
                  <c:v>540.77001953125</c:v>
                </c:pt>
                <c:pt idx="9">
                  <c:v>536.72998046875</c:v>
                </c:pt>
                <c:pt idx="10">
                  <c:v>522.1199951171875</c:v>
                </c:pt>
                <c:pt idx="11">
                  <c:v>515.0999755859375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Category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4027681603584</c:v>
                </c:pt>
                <c:pt idx="1">
                  <c:v>3907646914560</c:v>
                </c:pt>
                <c:pt idx="2">
                  <c:v>3398890160128</c:v>
                </c:pt>
                <c:pt idx="3">
                  <c:v>2609979064320</c:v>
                </c:pt>
                <c:pt idx="4">
                  <c:v>1518435958784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C62828"/>
                </a:solidFill>
              </a:defRPr>
            </a:pPr>
            <a:r>
              <a:t>Tech Stocks Q4 Performance - Professional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Global Investment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MarketCap averages $3.09T, up 15% from last year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CurrentPrice increased 12% with $354 mean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TrailingPE exceeds ForwardPE by 34 points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52wHigh peaked at $555, a 21% increase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Growth rates exceed 20% for top performers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Growth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nan%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↘️ Negative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8,406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1,319,742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📈 Performance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3840480"/>
          <a:ext cx="82296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🗂️ Category Breakdown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💡 Insight: AAPL significantly leads the top category with 26% market share.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💼 AI-Powered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📈 Top 3 Performers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Data analysis in progress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Performance metrics being calculated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Trends under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3716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5100"/>
                </a:solidFill>
              </a:defRPr>
            </a:pPr>
            <a:r>
              <a:t>⚠️ Anomalies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No significant anomalies detected in current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3716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💡 Predicted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2064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Insufficient historical data for accurate predictions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Continued monitoring recommended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Global Investment Analytics</a:t>
            </a:r>
          </a:p>
          <a:p>
            <a:r>
              <a:t>sarah.johnson@gia.com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