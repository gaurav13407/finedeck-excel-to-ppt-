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Market Capitalization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Cap (B)</c:v>
                </c:pt>
              </c:strCache>
            </c:strRef>
          </c:tx>
          <c:dPt>
            <c:idx val="0"/>
            <c:spPr>
              <a:solidFill>
                <a:srgbClr val="2196F3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dPt>
            <c:idx val="2"/>
            <c:spPr>
              <a:solidFill>
                <a:srgbClr val="FFC107"/>
              </a:solidFill>
            </c:spPr>
          </c:dPt>
          <c:dPt>
            <c:idx val="3"/>
            <c:spPr>
              <a:solidFill>
                <a:srgbClr val="D32F2F"/>
              </a:solidFill>
            </c:spPr>
          </c:dPt>
          <c:dPt>
            <c:idx val="4"/>
            <c:spPr>
              <a:solidFill>
                <a:srgbClr val="9C27B0"/>
              </a:solidFill>
            </c:spPr>
          </c:dPt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MSFT</c:v>
                </c:pt>
                <c:pt idx="2">
                  <c:v>GOOGL</c:v>
                </c:pt>
                <c:pt idx="3">
                  <c:v>AMZN</c:v>
                </c:pt>
                <c:pt idx="4">
                  <c:v>TSLA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4027.681603584</c:v>
                </c:pt>
                <c:pt idx="1">
                  <c:v>3907.64691456</c:v>
                </c:pt>
                <c:pt idx="2">
                  <c:v>3398.890160128</c:v>
                </c:pt>
                <c:pt idx="3">
                  <c:v>2609.97906432</c:v>
                </c:pt>
                <c:pt idx="4">
                  <c:v>1518.435958784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AAPL - 60-Day Price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AAPL Closing Price</c:v>
                </c:pt>
              </c:strCache>
            </c:strRef>
          </c:tx>
          <c:spPr>
            <a:ln w="31750">
              <a:solidFill>
                <a:srgbClr val="2196F3"/>
              </a:solidFill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2025-08-08</c:v>
                </c:pt>
                <c:pt idx="1">
                  <c:v>2025-08-11</c:v>
                </c:pt>
                <c:pt idx="2">
                  <c:v>2025-08-12</c:v>
                </c:pt>
                <c:pt idx="3">
                  <c:v>2025-08-13</c:v>
                </c:pt>
                <c:pt idx="4">
                  <c:v>2025-08-14</c:v>
                </c:pt>
                <c:pt idx="5">
                  <c:v>2025-08-15</c:v>
                </c:pt>
                <c:pt idx="6">
                  <c:v>2025-08-18</c:v>
                </c:pt>
                <c:pt idx="7">
                  <c:v>2025-08-19</c:v>
                </c:pt>
                <c:pt idx="8">
                  <c:v>2025-08-20</c:v>
                </c:pt>
                <c:pt idx="9">
                  <c:v>2025-08-21</c:v>
                </c:pt>
                <c:pt idx="10">
                  <c:v>2025-08-22</c:v>
                </c:pt>
                <c:pt idx="11">
                  <c:v>2025-08-25</c:v>
                </c:pt>
                <c:pt idx="12">
                  <c:v>2025-08-26</c:v>
                </c:pt>
                <c:pt idx="13">
                  <c:v>2025-08-27</c:v>
                </c:pt>
                <c:pt idx="14">
                  <c:v>2025-08-28</c:v>
                </c:pt>
                <c:pt idx="15">
                  <c:v>2025-08-29</c:v>
                </c:pt>
                <c:pt idx="16">
                  <c:v>2025-09-02</c:v>
                </c:pt>
                <c:pt idx="17">
                  <c:v>2025-09-03</c:v>
                </c:pt>
                <c:pt idx="18">
                  <c:v>2025-09-04</c:v>
                </c:pt>
                <c:pt idx="19">
                  <c:v>2025-09-05</c:v>
                </c:pt>
                <c:pt idx="20">
                  <c:v>2025-09-08</c:v>
                </c:pt>
                <c:pt idx="21">
                  <c:v>2025-09-09</c:v>
                </c:pt>
                <c:pt idx="22">
                  <c:v>2025-09-10</c:v>
                </c:pt>
                <c:pt idx="23">
                  <c:v>2025-09-11</c:v>
                </c:pt>
                <c:pt idx="24">
                  <c:v>2025-09-12</c:v>
                </c:pt>
                <c:pt idx="25">
                  <c:v>2025-09-15</c:v>
                </c:pt>
                <c:pt idx="26">
                  <c:v>2025-09-16</c:v>
                </c:pt>
                <c:pt idx="27">
                  <c:v>2025-09-17</c:v>
                </c:pt>
                <c:pt idx="28">
                  <c:v>2025-09-18</c:v>
                </c:pt>
                <c:pt idx="29">
                  <c:v>2025-09-19</c:v>
                </c:pt>
                <c:pt idx="30">
                  <c:v>2025-09-22</c:v>
                </c:pt>
                <c:pt idx="31">
                  <c:v>2025-09-23</c:v>
                </c:pt>
                <c:pt idx="32">
                  <c:v>2025-09-24</c:v>
                </c:pt>
                <c:pt idx="33">
                  <c:v>2025-09-25</c:v>
                </c:pt>
                <c:pt idx="34">
                  <c:v>2025-09-26</c:v>
                </c:pt>
                <c:pt idx="35">
                  <c:v>2025-09-29</c:v>
                </c:pt>
                <c:pt idx="36">
                  <c:v>2025-09-30</c:v>
                </c:pt>
                <c:pt idx="37">
                  <c:v>2025-10-01</c:v>
                </c:pt>
                <c:pt idx="38">
                  <c:v>2025-10-02</c:v>
                </c:pt>
                <c:pt idx="39">
                  <c:v>2025-10-03</c:v>
                </c:pt>
                <c:pt idx="40">
                  <c:v>2025-10-06</c:v>
                </c:pt>
                <c:pt idx="41">
                  <c:v>2025-10-07</c:v>
                </c:pt>
                <c:pt idx="42">
                  <c:v>2025-10-08</c:v>
                </c:pt>
                <c:pt idx="43">
                  <c:v>2025-10-09</c:v>
                </c:pt>
                <c:pt idx="44">
                  <c:v>2025-10-10</c:v>
                </c:pt>
                <c:pt idx="45">
                  <c:v>2025-10-13</c:v>
                </c:pt>
                <c:pt idx="46">
                  <c:v>2025-10-14</c:v>
                </c:pt>
                <c:pt idx="47">
                  <c:v>2025-10-15</c:v>
                </c:pt>
                <c:pt idx="48">
                  <c:v>2025-10-16</c:v>
                </c:pt>
                <c:pt idx="49">
                  <c:v>2025-10-17</c:v>
                </c:pt>
                <c:pt idx="50">
                  <c:v>2025-10-20</c:v>
                </c:pt>
                <c:pt idx="51">
                  <c:v>2025-10-21</c:v>
                </c:pt>
                <c:pt idx="52">
                  <c:v>2025-10-22</c:v>
                </c:pt>
                <c:pt idx="53">
                  <c:v>2025-10-23</c:v>
                </c:pt>
                <c:pt idx="54">
                  <c:v>2025-10-24</c:v>
                </c:pt>
                <c:pt idx="55">
                  <c:v>2025-10-27</c:v>
                </c:pt>
                <c:pt idx="56">
                  <c:v>2025-10-28</c:v>
                </c:pt>
                <c:pt idx="57">
                  <c:v>2025-10-29</c:v>
                </c:pt>
                <c:pt idx="58">
                  <c:v>2025-10-30</c:v>
                </c:pt>
                <c:pt idx="59">
                  <c:v>2025-10-31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229.3500061035156</c:v>
                </c:pt>
                <c:pt idx="1">
                  <c:v>227.1799926757812</c:v>
                </c:pt>
                <c:pt idx="2">
                  <c:v>229.6499938964844</c:v>
                </c:pt>
                <c:pt idx="3">
                  <c:v>233.3300018310547</c:v>
                </c:pt>
                <c:pt idx="4">
                  <c:v>232.7799987792969</c:v>
                </c:pt>
                <c:pt idx="5">
                  <c:v>231.5899963378906</c:v>
                </c:pt>
                <c:pt idx="6">
                  <c:v>230.8899993896484</c:v>
                </c:pt>
                <c:pt idx="7">
                  <c:v>230.5599975585938</c:v>
                </c:pt>
                <c:pt idx="8">
                  <c:v>226.0099945068359</c:v>
                </c:pt>
                <c:pt idx="9">
                  <c:v>224.8999938964844</c:v>
                </c:pt>
                <c:pt idx="10">
                  <c:v>227.7599945068359</c:v>
                </c:pt>
                <c:pt idx="11">
                  <c:v>227.1600036621094</c:v>
                </c:pt>
                <c:pt idx="12">
                  <c:v>229.3099975585938</c:v>
                </c:pt>
                <c:pt idx="13">
                  <c:v>230.4900054931641</c:v>
                </c:pt>
                <c:pt idx="14">
                  <c:v>232.5599975585938</c:v>
                </c:pt>
                <c:pt idx="15">
                  <c:v>232.1399993896484</c:v>
                </c:pt>
                <c:pt idx="16">
                  <c:v>229.7200012207031</c:v>
                </c:pt>
                <c:pt idx="17">
                  <c:v>238.4700012207031</c:v>
                </c:pt>
                <c:pt idx="18">
                  <c:v>239.7799987792969</c:v>
                </c:pt>
                <c:pt idx="19">
                  <c:v>239.6900024414062</c:v>
                </c:pt>
                <c:pt idx="20">
                  <c:v>237.8800048828125</c:v>
                </c:pt>
                <c:pt idx="21">
                  <c:v>234.3500061035156</c:v>
                </c:pt>
                <c:pt idx="22">
                  <c:v>226.7899932861328</c:v>
                </c:pt>
                <c:pt idx="23">
                  <c:v>230.0299987792969</c:v>
                </c:pt>
                <c:pt idx="24">
                  <c:v>234.0700073242188</c:v>
                </c:pt>
                <c:pt idx="25">
                  <c:v>236.6999969482422</c:v>
                </c:pt>
                <c:pt idx="26">
                  <c:v>238.1499938964844</c:v>
                </c:pt>
                <c:pt idx="27">
                  <c:v>238.9900054931641</c:v>
                </c:pt>
                <c:pt idx="28">
                  <c:v>237.8800048828125</c:v>
                </c:pt>
                <c:pt idx="29">
                  <c:v>245.5</c:v>
                </c:pt>
                <c:pt idx="30">
                  <c:v>256.0799865722656</c:v>
                </c:pt>
                <c:pt idx="31">
                  <c:v>254.4299926757812</c:v>
                </c:pt>
                <c:pt idx="32">
                  <c:v>252.3099975585938</c:v>
                </c:pt>
                <c:pt idx="33">
                  <c:v>256.8699951171875</c:v>
                </c:pt>
                <c:pt idx="34">
                  <c:v>255.4600067138672</c:v>
                </c:pt>
                <c:pt idx="35">
                  <c:v>254.4299926757812</c:v>
                </c:pt>
                <c:pt idx="36">
                  <c:v>254.6300048828125</c:v>
                </c:pt>
                <c:pt idx="37">
                  <c:v>255.4499969482422</c:v>
                </c:pt>
                <c:pt idx="38">
                  <c:v>257.1300048828125</c:v>
                </c:pt>
                <c:pt idx="39">
                  <c:v>258.0199890136719</c:v>
                </c:pt>
                <c:pt idx="40">
                  <c:v>256.6900024414062</c:v>
                </c:pt>
                <c:pt idx="41">
                  <c:v>256.4800109863281</c:v>
                </c:pt>
                <c:pt idx="42">
                  <c:v>258.0599975585938</c:v>
                </c:pt>
                <c:pt idx="43">
                  <c:v>254.0399932861328</c:v>
                </c:pt>
                <c:pt idx="44">
                  <c:v>245.2700042724609</c:v>
                </c:pt>
                <c:pt idx="45">
                  <c:v>247.6600036621094</c:v>
                </c:pt>
                <c:pt idx="46">
                  <c:v>247.7700042724609</c:v>
                </c:pt>
                <c:pt idx="47">
                  <c:v>249.3399963378906</c:v>
                </c:pt>
                <c:pt idx="48">
                  <c:v>247.4499969482422</c:v>
                </c:pt>
                <c:pt idx="49">
                  <c:v>252.2899932861328</c:v>
                </c:pt>
                <c:pt idx="50">
                  <c:v>262.239990234375</c:v>
                </c:pt>
                <c:pt idx="51">
                  <c:v>262.7699890136719</c:v>
                </c:pt>
                <c:pt idx="52">
                  <c:v>258.4500122070312</c:v>
                </c:pt>
                <c:pt idx="53">
                  <c:v>259.5799865722656</c:v>
                </c:pt>
                <c:pt idx="54">
                  <c:v>262.8200073242188</c:v>
                </c:pt>
                <c:pt idx="55">
                  <c:v>268.8099975585938</c:v>
                </c:pt>
                <c:pt idx="56">
                  <c:v>269.0</c:v>
                </c:pt>
                <c:pt idx="57">
                  <c:v>269.7000122070312</c:v>
                </c:pt>
                <c:pt idx="58">
                  <c:v>271.3999938964844</c:v>
                </c:pt>
                <c:pt idx="59">
                  <c:v>270.3699951171875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 b="1"/>
            </a:pPr>
            <a:r>
              <a:t>Category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196F3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dPt>
            <c:idx val="2"/>
            <c:spPr>
              <a:solidFill>
                <a:srgbClr val="FFC107"/>
              </a:solidFill>
            </c:spPr>
          </c:dPt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Consumer Cyclical</c:v>
                </c:pt>
                <c:pt idx="2">
                  <c:v>Communication Services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dLbls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4800" b="1">
                <a:solidFill>
                  <a:srgbClr val="C62828"/>
                </a:solidFill>
              </a:defRPr>
            </a:pPr>
            <a:r>
              <a:t>Q4 2025 Tech Stocks - Comprehensive Market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Generated on November 2025</a:t>
            </a:r>
          </a:p>
          <a:p>
            <a:r>
              <a:t>by Global Investment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53935"/>
                </a:solidFill>
              </a:defRPr>
            </a:pPr>
            <a:r>
              <a:t>📊 Powered by Excel-to-PPT AI Converter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📊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6949440" cy="4114800"/>
          </a:xfrm>
          <a:prstGeom prst="rect">
            <a:avLst/>
          </a:prstGeom>
          <a:noFill/>
        </p:spPr>
        <p:txBody>
          <a:bodyPr wrap="square" lIns="182880">
            <a:sp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MarketCap averages $3.09T, up 10%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CurrentPrice ranges from $244 to $518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TrailingPE exceeds ForwardPE by 34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52wHigh peaks at $555, a 121% increase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MarketCap sum reaches $15.46B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💵 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840480" cy="2011680"/>
          </a:xfrm>
          <a:prstGeom prst="rect">
            <a:avLst/>
          </a:prstGeom>
          <a:solidFill>
            <a:srgbClr val="1F4E78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Total Market 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$15462.6B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FFC8"/>
                </a:solidFill>
              </a:defRPr>
            </a:pPr>
            <a:r>
              <a:t>↗️ +12.5%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840480" cy="2011680"/>
          </a:xfrm>
          <a:prstGeom prst="rect">
            <a:avLst/>
          </a:prstGeom>
          <a:solidFill>
            <a:srgbClr val="4F81BD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Avg 1Y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86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  <a:r>
              <a:t>↗️ Strong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40"/>
            <a:ext cx="3840480" cy="2011680"/>
          </a:xfrm>
          <a:prstGeom prst="rect">
            <a:avLst/>
          </a:prstGeom>
          <a:solidFill>
            <a:srgbClr val="2E75B5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Avg P/E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89.6x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  <a:r>
              <a:t>→ Stable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749040"/>
            <a:ext cx="3840480" cy="2011680"/>
          </a:xfrm>
          <a:prstGeom prst="rect">
            <a:avLst/>
          </a:prstGeom>
          <a:solidFill>
            <a:srgbClr val="5B9BD5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Portfolio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572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 Stocks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120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📈 Market Performance Dashboard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39319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Color Key (Left Chart - MarketCap):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🔵 Blue = AAPL (Apple)  |  🟢 Green = MSFT (Microsoft)  |  🟡 Gold = GOOGL (Alphabet)  |  🔴 Red = AMZN (Amazon)  |  🟣 Purple = TSLA (Tesla)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🗂️ Sector Distribution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1400" i="1">
                <a:solidFill>
                  <a:srgbClr val="343A40"/>
                </a:solidFill>
              </a:defRPr>
            </a:pPr>
            <a:r>
              <a:t>💡 Key Insight: Both Technology and Consumer Cyclical categories are equally dominant at 40.0%.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🏆 Top Performers - 1 Year Returns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4846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1097280"/>
                <a:gridCol w="73152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1Y Return %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TSLA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Tesla,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77.27%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🟢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GOOGL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Alphabet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61.18%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🟢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AMZN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Amazon.com,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26.72%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🟡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MSFT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Microsoft Corporation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19.72%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AAPL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Apple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17.50%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Legend: 🟢 Strong (&gt;50%)  🟡 Good (20-50%)  🟠 Moderate (0-20%)  🔴 Negative (&lt;0%)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1400" i="1">
                <a:solidFill>
                  <a:srgbClr val="343A40"/>
                </a:solidFill>
              </a:defRPr>
            </a:pPr>
            <a:r>
              <a:t>💡 TSLA (Tesla, Inc.) leads the portfolio with an impressive 77.27% annual return, demonstrating exceptional market performance and strong investor 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💼 AI Insights &amp; Market Predictions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📈 Top 3 Performers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Data analysis in progress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Performance metrics being calculated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Trends under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137160" cy="1371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017520"/>
            <a:ext cx="731520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65100"/>
                </a:solidFill>
              </a:defRPr>
            </a:pPr>
            <a:r>
              <a:t>⚠️ Anomalies Detected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47472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No significant anomalies detected in current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13716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663440"/>
            <a:ext cx="731520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💡 Predicted Trends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12064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Insufficient historical data for accurate predictions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Continued monitoring recommended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62828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Global Investment Partners</a:t>
            </a:r>
          </a:p>
          <a:p>
            <a:r>
              <a:t>analytics@globalinvest.com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📊 Generated via Excel-to-PPT AI Converter</a:t>
            </a:r>
          </a:p>
          <a:p>
            <a:r>
              <a:t>www.exceltoppt.ai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