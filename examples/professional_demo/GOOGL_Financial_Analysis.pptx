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2000" b="1">
                <a:solidFill>
                  <a:srgbClr val="192A56"/>
                </a:solidFill>
              </a:defRPr>
            </a:pPr>
            <a:r>
              <a:t>Data Insights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Sheet1!$A$2:$A$13</c:f>
              <c:strCache>
                <c:ptCount val="12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  <c:pt idx="5">
                  <c:v>nan</c:v>
                </c:pt>
                <c:pt idx="6">
                  <c:v>nan</c:v>
                </c:pt>
                <c:pt idx="7">
                  <c:v>nan</c:v>
                </c:pt>
                <c:pt idx="8">
                  <c:v>nan</c:v>
                </c:pt>
                <c:pt idx="9">
                  <c:v>nan</c:v>
                </c:pt>
                <c:pt idx="10">
                  <c:v>nan</c:v>
                </c:pt>
                <c:pt idx="11">
                  <c:v>nan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4027681603584.0</c:v>
                </c:pt>
                <c:pt idx="1">
                  <c:v>3907646914560.0</c:v>
                </c:pt>
                <c:pt idx="2">
                  <c:v>3398890160128.0</c:v>
                </c:pt>
                <c:pt idx="3">
                  <c:v>2609979064320.0</c:v>
                </c:pt>
                <c:pt idx="4">
                  <c:v>1518435958784.0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CurrentPrice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Sheet1!$A$2:$A$13</c:f>
              <c:strCache>
                <c:ptCount val="12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  <c:pt idx="5">
                  <c:v>nan</c:v>
                </c:pt>
                <c:pt idx="6">
                  <c:v>nan</c:v>
                </c:pt>
                <c:pt idx="7">
                  <c:v>nan</c:v>
                </c:pt>
                <c:pt idx="8">
                  <c:v>nan</c:v>
                </c:pt>
                <c:pt idx="9">
                  <c:v>nan</c:v>
                </c:pt>
                <c:pt idx="10">
                  <c:v>nan</c:v>
                </c:pt>
                <c:pt idx="11">
                  <c:v>nan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270.37</c:v>
                </c:pt>
                <c:pt idx="1">
                  <c:v>517.81</c:v>
                </c:pt>
                <c:pt idx="2">
                  <c:v>281.19</c:v>
                </c:pt>
                <c:pt idx="3">
                  <c:v>244.22</c:v>
                </c:pt>
                <c:pt idx="4">
                  <c:v>456.56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TrailingPE</c:v>
                </c:pt>
              </c:strCache>
            </c:strRef>
          </c:tx>
          <c:spPr>
            <a:solidFill>
              <a:srgbClr val="E67E22"/>
            </a:solidFill>
          </c:spPr>
          <c:cat>
            <c:strRef>
              <c:f>Sheet1!$A$2:$A$13</c:f>
              <c:strCache>
                <c:ptCount val="12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  <c:pt idx="5">
                  <c:v>nan</c:v>
                </c:pt>
                <c:pt idx="6">
                  <c:v>nan</c:v>
                </c:pt>
                <c:pt idx="7">
                  <c:v>nan</c:v>
                </c:pt>
                <c:pt idx="8">
                  <c:v>nan</c:v>
                </c:pt>
                <c:pt idx="9">
                  <c:v>nan</c:v>
                </c:pt>
                <c:pt idx="10">
                  <c:v>nan</c:v>
                </c:pt>
                <c:pt idx="11">
                  <c:v>nan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36.24</c:v>
                </c:pt>
                <c:pt idx="1">
                  <c:v>36.78</c:v>
                </c:pt>
                <c:pt idx="2">
                  <c:v>27.79</c:v>
                </c:pt>
                <c:pt idx="3">
                  <c:v>34.49</c:v>
                </c:pt>
                <c:pt idx="4">
                  <c:v>312.71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/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000" b="1">
                <a:solidFill>
                  <a:srgbClr val="192A56"/>
                </a:solidFill>
              </a:defRPr>
            </a:pPr>
            <a:r>
              <a:t>Sector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4027681603584.0</c:v>
                </c:pt>
                <c:pt idx="1">
                  <c:v>3907646914560.0</c:v>
                </c:pt>
                <c:pt idx="2">
                  <c:v>3398890160128.0</c:v>
                </c:pt>
                <c:pt idx="3">
                  <c:v>2609979064320.0</c:v>
                </c:pt>
                <c:pt idx="4">
                  <c:v>1518435958784.0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 b="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2000" b="1">
                <a:solidFill>
                  <a:srgbClr val="192A56"/>
                </a:solidFill>
              </a:defRPr>
            </a:pPr>
            <a:r>
              <a:t>Trend Analysis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Sheet1!$A$2:$A$13</c:f>
              <c:strCache>
                <c:ptCount val="12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  <c:pt idx="5">
                  <c:v>nan</c:v>
                </c:pt>
                <c:pt idx="6">
                  <c:v>nan</c:v>
                </c:pt>
                <c:pt idx="7">
                  <c:v>nan</c:v>
                </c:pt>
                <c:pt idx="8">
                  <c:v>nan</c:v>
                </c:pt>
                <c:pt idx="9">
                  <c:v>nan</c:v>
                </c:pt>
                <c:pt idx="10">
                  <c:v>nan</c:v>
                </c:pt>
                <c:pt idx="11">
                  <c:v>nan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4027681603584.0</c:v>
                </c:pt>
                <c:pt idx="1">
                  <c:v>3907646914560.0</c:v>
                </c:pt>
                <c:pt idx="2">
                  <c:v>3398890160128.0</c:v>
                </c:pt>
                <c:pt idx="3">
                  <c:v>2609979064320.0</c:v>
                </c:pt>
                <c:pt idx="4">
                  <c:v>1518435958784.0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CurrentPrice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Sheet1!$A$2:$A$13</c:f>
              <c:strCache>
                <c:ptCount val="12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  <c:pt idx="5">
                  <c:v>nan</c:v>
                </c:pt>
                <c:pt idx="6">
                  <c:v>nan</c:v>
                </c:pt>
                <c:pt idx="7">
                  <c:v>nan</c:v>
                </c:pt>
                <c:pt idx="8">
                  <c:v>nan</c:v>
                </c:pt>
                <c:pt idx="9">
                  <c:v>nan</c:v>
                </c:pt>
                <c:pt idx="10">
                  <c:v>nan</c:v>
                </c:pt>
                <c:pt idx="11">
                  <c:v>nan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270.37</c:v>
                </c:pt>
                <c:pt idx="1">
                  <c:v>517.81</c:v>
                </c:pt>
                <c:pt idx="2">
                  <c:v>281.19</c:v>
                </c:pt>
                <c:pt idx="3">
                  <c:v>244.22</c:v>
                </c:pt>
                <c:pt idx="4">
                  <c:v>456.56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TrailingPE</c:v>
                </c:pt>
              </c:strCache>
            </c:strRef>
          </c:tx>
          <c:spPr>
            <a:solidFill>
              <a:srgbClr val="E67E22"/>
            </a:solidFill>
          </c:spPr>
          <c:cat>
            <c:strRef>
              <c:f>Sheet1!$A$2:$A$13</c:f>
              <c:strCache>
                <c:ptCount val="12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  <c:pt idx="5">
                  <c:v>nan</c:v>
                </c:pt>
                <c:pt idx="6">
                  <c:v>nan</c:v>
                </c:pt>
                <c:pt idx="7">
                  <c:v>nan</c:v>
                </c:pt>
                <c:pt idx="8">
                  <c:v>nan</c:v>
                </c:pt>
                <c:pt idx="9">
                  <c:v>nan</c:v>
                </c:pt>
                <c:pt idx="10">
                  <c:v>nan</c:v>
                </c:pt>
                <c:pt idx="11">
                  <c:v>nan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36.24</c:v>
                </c:pt>
                <c:pt idx="1">
                  <c:v>36.78</c:v>
                </c:pt>
                <c:pt idx="2">
                  <c:v>27.79</c:v>
                </c:pt>
                <c:pt idx="3">
                  <c:v>34.49</c:v>
                </c:pt>
                <c:pt idx="4">
                  <c:v>312.71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/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Alphabet (GOOGL) - Comprehensive Financial Analysis Q4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Comprehensive Business Analysis | November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754880"/>
            <a:ext cx="36576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Analysis covers 8,406 data points across 157 dimensions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MarketCap: Total of $15462.6B, averaging $3092.5B per record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CurrentPrice: Total of $1.8K, averaging $354.03 per record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TrailingPE: Total of $448.01, averaging $89.60 per record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5 unique categories identified in Ticker dimension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8,406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MarketCap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$15462.6B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CurrentPrice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$1.8K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TrailingPE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$448.01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29184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474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ForwardPE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31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$279.18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572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29184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474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Ticker 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Unique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MarketCap totals $15462.6B with strong performance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CurrentPrice shows $124.20 standard deviation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Most common category: AAPL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Data quality verified across all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Sector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Distribution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AAPL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26.0%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MSFT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GOOGL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22.0%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AMZN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918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9.8%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Strong MarketCap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Total MarketCap of $15462.6B with average of $3092.5B per record, demonstrating solid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CurrentPrice Consistency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Standard deviation of $124.20 indicates moderate variability in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Category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5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Analysis spans 5 distinct categories in Ticker, providing comprehensive market coverage and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Top Performers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AAPL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$4027.7B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MSFT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$3907.6B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Excellent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GOOGL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77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$3398.9B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774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Excellent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AMZN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743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$2610.0B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089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108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$1518.4B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Strong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747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nan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474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$nan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474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Strong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404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nan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840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$nan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840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Good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06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206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nan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206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$nan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206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Good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Positive outlook for next reporting period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Generated by FinDeck | November 06,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