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2000" b="1">
                <a:solidFill>
                  <a:srgbClr val="192A56"/>
                </a:solidFill>
              </a:defRPr>
            </a:pPr>
            <a:r>
              <a:t>Data Insights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spPr>
            <a:solidFill>
              <a:srgbClr val="2980B9"/>
            </a:solidFill>
          </c:spPr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9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  <c:txPr>
        <a:bodyPr/>
        <a:lstStyle/>
        <a:p>
          <a:pPr>
            <a:defRPr sz="1100" b="0"/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Distribution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AAPL</c:v>
                </c:pt>
                <c:pt idx="1">
                  <c:v>MSFT</c:v>
                </c:pt>
                <c:pt idx="2">
                  <c:v>GOOGL</c:v>
                </c:pt>
                <c:pt idx="3">
                  <c:v>AMZN</c:v>
                </c:pt>
                <c:pt idx="4">
                  <c:v>TSLA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MarketCap</c:v>
                </c:pt>
              </c:strCache>
            </c:strRef>
          </c:tx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NaT</c:v>
                </c:pt>
                <c:pt idx="1">
                  <c:v>NaT</c:v>
                </c:pt>
                <c:pt idx="2">
                  <c:v>NaT</c:v>
                </c:pt>
                <c:pt idx="3">
                  <c:v>NaT</c:v>
                </c:pt>
                <c:pt idx="4">
                  <c:v>NaT</c:v>
                </c:pt>
                <c:pt idx="5">
                  <c:v>2020-11-02</c:v>
                </c:pt>
                <c:pt idx="6">
                  <c:v>2020-11-03</c:v>
                </c:pt>
                <c:pt idx="7">
                  <c:v>2020-11-04</c:v>
                </c:pt>
                <c:pt idx="8">
                  <c:v>2020-11-05</c:v>
                </c:pt>
                <c:pt idx="9">
                  <c:v>2020-11-06</c:v>
                </c:pt>
                <c:pt idx="10">
                  <c:v>2020-11-09</c:v>
                </c:pt>
                <c:pt idx="11">
                  <c:v>2020-11-10</c:v>
                </c:pt>
                <c:pt idx="12">
                  <c:v>2020-11-11</c:v>
                </c:pt>
                <c:pt idx="13">
                  <c:v>2020-11-12</c:v>
                </c:pt>
                <c:pt idx="14">
                  <c:v>2020-11-13</c:v>
                </c:pt>
                <c:pt idx="15">
                  <c:v>2020-11-16</c:v>
                </c:pt>
                <c:pt idx="16">
                  <c:v>2020-11-17</c:v>
                </c:pt>
                <c:pt idx="17">
                  <c:v>2020-11-18</c:v>
                </c:pt>
                <c:pt idx="18">
                  <c:v>2020-11-19</c:v>
                </c:pt>
                <c:pt idx="19">
                  <c:v>2020-11-20</c:v>
                </c:pt>
              </c:strCache>
            </c: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4027681603584.0</c:v>
                </c:pt>
                <c:pt idx="1">
                  <c:v>3907646914560.0</c:v>
                </c:pt>
                <c:pt idx="2">
                  <c:v>3398890160128.0</c:v>
                </c:pt>
                <c:pt idx="3">
                  <c:v>2609979064320.0</c:v>
                </c:pt>
                <c:pt idx="4">
                  <c:v>1518435958784.0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CurrentPrice</c:v>
                </c:pt>
              </c:strCache>
            </c:strRef>
          </c:tx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NaT</c:v>
                </c:pt>
                <c:pt idx="1">
                  <c:v>NaT</c:v>
                </c:pt>
                <c:pt idx="2">
                  <c:v>NaT</c:v>
                </c:pt>
                <c:pt idx="3">
                  <c:v>NaT</c:v>
                </c:pt>
                <c:pt idx="4">
                  <c:v>NaT</c:v>
                </c:pt>
                <c:pt idx="5">
                  <c:v>2020-11-02</c:v>
                </c:pt>
                <c:pt idx="6">
                  <c:v>2020-11-03</c:v>
                </c:pt>
                <c:pt idx="7">
                  <c:v>2020-11-04</c:v>
                </c:pt>
                <c:pt idx="8">
                  <c:v>2020-11-05</c:v>
                </c:pt>
                <c:pt idx="9">
                  <c:v>2020-11-06</c:v>
                </c:pt>
                <c:pt idx="10">
                  <c:v>2020-11-09</c:v>
                </c:pt>
                <c:pt idx="11">
                  <c:v>2020-11-10</c:v>
                </c:pt>
                <c:pt idx="12">
                  <c:v>2020-11-11</c:v>
                </c:pt>
                <c:pt idx="13">
                  <c:v>2020-11-12</c:v>
                </c:pt>
                <c:pt idx="14">
                  <c:v>2020-11-13</c:v>
                </c:pt>
                <c:pt idx="15">
                  <c:v>2020-11-16</c:v>
                </c:pt>
                <c:pt idx="16">
                  <c:v>2020-11-17</c:v>
                </c:pt>
                <c:pt idx="17">
                  <c:v>2020-11-18</c:v>
                </c:pt>
                <c:pt idx="18">
                  <c:v>2020-11-19</c:v>
                </c:pt>
                <c:pt idx="19">
                  <c:v>2020-11-20</c:v>
                </c:pt>
              </c:strCache>
            </c: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270.3699951171875</c:v>
                </c:pt>
                <c:pt idx="1">
                  <c:v>517.8099975585938</c:v>
                </c:pt>
                <c:pt idx="2">
                  <c:v>281.1900024414062</c:v>
                </c:pt>
                <c:pt idx="3">
                  <c:v>244.2200012207031</c:v>
                </c:pt>
                <c:pt idx="4">
                  <c:v>456.5599975585938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TrailingPE</c:v>
                </c:pt>
              </c:strCache>
            </c:strRef>
          </c:tx>
          <c:marker>
            <c:symbol val="none"/>
          </c:marker>
          <c:cat>
            <c:strRef>
              <c:f>Sheet1!$A$2:$A$21</c:f>
              <c:strCache>
                <c:ptCount val="20"/>
                <c:pt idx="0">
                  <c:v>NaT</c:v>
                </c:pt>
                <c:pt idx="1">
                  <c:v>NaT</c:v>
                </c:pt>
                <c:pt idx="2">
                  <c:v>NaT</c:v>
                </c:pt>
                <c:pt idx="3">
                  <c:v>NaT</c:v>
                </c:pt>
                <c:pt idx="4">
                  <c:v>NaT</c:v>
                </c:pt>
                <c:pt idx="5">
                  <c:v>2020-11-02</c:v>
                </c:pt>
                <c:pt idx="6">
                  <c:v>2020-11-03</c:v>
                </c:pt>
                <c:pt idx="7">
                  <c:v>2020-11-04</c:v>
                </c:pt>
                <c:pt idx="8">
                  <c:v>2020-11-05</c:v>
                </c:pt>
                <c:pt idx="9">
                  <c:v>2020-11-06</c:v>
                </c:pt>
                <c:pt idx="10">
                  <c:v>2020-11-09</c:v>
                </c:pt>
                <c:pt idx="11">
                  <c:v>2020-11-10</c:v>
                </c:pt>
                <c:pt idx="12">
                  <c:v>2020-11-11</c:v>
                </c:pt>
                <c:pt idx="13">
                  <c:v>2020-11-12</c:v>
                </c:pt>
                <c:pt idx="14">
                  <c:v>2020-11-13</c:v>
                </c:pt>
                <c:pt idx="15">
                  <c:v>2020-11-16</c:v>
                </c:pt>
                <c:pt idx="16">
                  <c:v>2020-11-17</c:v>
                </c:pt>
                <c:pt idx="17">
                  <c:v>2020-11-18</c:v>
                </c:pt>
                <c:pt idx="18">
                  <c:v>2020-11-19</c:v>
                </c:pt>
                <c:pt idx="19">
                  <c:v>2020-11-20</c:v>
                </c:pt>
              </c:strCache>
            </c:strRef>
          </c:cat>
          <c:val>
            <c:numRef>
              <c:f>Sheet1!$D$2:$D$21</c:f>
              <c:numCache>
                <c:formatCode>General</c:formatCode>
                <c:ptCount val="20"/>
                <c:pt idx="0">
                  <c:v>36.242626</c:v>
                </c:pt>
                <c:pt idx="1">
                  <c:v>36.77628</c:v>
                </c:pt>
                <c:pt idx="2">
                  <c:v>27.785574</c:v>
                </c:pt>
                <c:pt idx="3">
                  <c:v>34.49435</c:v>
                </c:pt>
                <c:pt idx="4">
                  <c:v>312.7123</c:v>
                </c:pt>
                <c:pt idx="5">
                  <c:v>0.0</c:v>
                </c:pt>
                <c:pt idx="6">
                  <c:v>0.0</c:v>
                </c:pt>
                <c:pt idx="7">
                  <c:v>0.0</c:v>
                </c:pt>
                <c:pt idx="8">
                  <c:v>0.0</c:v>
                </c:pt>
                <c:pt idx="9">
                  <c:v>0.0</c:v>
                </c:pt>
                <c:pt idx="10">
                  <c:v>0.0</c:v>
                </c:pt>
                <c:pt idx="11">
                  <c:v>0.0</c:v>
                </c:pt>
                <c:pt idx="12">
                  <c:v>0.0</c:v>
                </c:pt>
                <c:pt idx="13">
                  <c:v>0.0</c:v>
                </c:pt>
                <c:pt idx="14">
                  <c:v>0.0</c:v>
                </c:pt>
                <c:pt idx="15">
                  <c:v>0.0</c:v>
                </c:pt>
                <c:pt idx="16">
                  <c:v>0.0</c:v>
                </c:pt>
                <c:pt idx="17">
                  <c:v>0.0</c:v>
                </c:pt>
                <c:pt idx="18">
                  <c:v>0.0</c:v>
                </c:pt>
                <c:pt idx="19">
                  <c:v>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solidFill>
              <a:srgbClr val="192A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7315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400" b="1">
                <a:solidFill>
                  <a:srgbClr val="FFFFFF"/>
                </a:solidFill>
              </a:defRPr>
            </a:pPr>
            <a:r>
              <a:t>Tech Stocks Q4 2025 - Professional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3498DB"/>
                </a:solidFill>
              </a:defRPr>
            </a:pPr>
            <a:r>
              <a:t>Comprehensive Business Analysis | November 2025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0" y="4754880"/>
            <a:ext cx="3657600" cy="45720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Executive Summary</a:t>
            </a:r>
          </a:p>
        </p:txBody>
      </p:sp>
      <p:sp>
        <p:nvSpPr>
          <p:cNvPr id="3" name="Oval 2"/>
          <p:cNvSpPr/>
          <p:nvPr/>
        </p:nvSpPr>
        <p:spPr>
          <a:xfrm>
            <a:off x="640080" y="109728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Analysis covers 4,826 data points across 84 dimensions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73736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91639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MarketCap: Total of $15462.6B, averaging $3092.5B per record</a:t>
            </a:r>
          </a:p>
        </p:txBody>
      </p:sp>
      <p:sp>
        <p:nvSpPr>
          <p:cNvPr id="7" name="Oval 6"/>
          <p:cNvSpPr/>
          <p:nvPr/>
        </p:nvSpPr>
        <p:spPr>
          <a:xfrm>
            <a:off x="640080" y="2377439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CurrentPrice: Total of $1.8K, averaging $354.03 per record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301752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97180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TrailingPE: Total of $448.01, averaging $89.60 per record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57600"/>
            <a:ext cx="137160" cy="137160"/>
          </a:xfrm>
          <a:prstGeom prst="ellipse">
            <a:avLst/>
          </a:prstGeom>
          <a:solidFill>
            <a:srgbClr val="2980B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7772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34495E"/>
                </a:solidFill>
              </a:defRPr>
            </a:pPr>
            <a:r>
              <a:t>5 unique categories identified in Ticker dimension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Metrics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Total Records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4,826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Current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338328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MarketCap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$15462.6B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37160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CurrentPrice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82880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$1.8K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6888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TrailingPE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$448.01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8328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6616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ForwardPE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$279.18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6616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3291840"/>
            <a:ext cx="2560320" cy="1645920"/>
          </a:xfrm>
          <a:prstGeom prst="rect">
            <a:avLst/>
          </a:prstGeom>
          <a:solidFill>
            <a:srgbClr val="ECF0F1"/>
          </a:solidFill>
          <a:ln w="12700">
            <a:solidFill>
              <a:srgbClr val="7F8C8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3474720"/>
            <a:ext cx="21945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34495E"/>
                </a:solidFill>
              </a:defRPr>
            </a:pPr>
            <a:r>
              <a:t>Ticker 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931920"/>
            <a:ext cx="21945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92A56"/>
                </a:solidFill>
              </a:defRPr>
            </a:pPr>
            <a: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4572000"/>
            <a:ext cx="21945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7F8C8D"/>
                </a:solidFill>
              </a:defRPr>
            </a:pPr>
            <a:r>
              <a:t>→ Unique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Data Insights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MarketCap totals $15462.6B with strong performance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CurrentPrice shows $124.20 standard deviation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Most common category: AAPL</a:t>
            </a:r>
          </a:p>
          <a:p>
            <a:pPr>
              <a:spcAft>
                <a:spcPts val="1200"/>
              </a:spcAft>
              <a:defRPr sz="1400">
                <a:solidFill>
                  <a:srgbClr val="34495E"/>
                </a:solidFill>
              </a:defRPr>
            </a:pPr>
            <a:r>
              <a:t>• Data quality verified across all metrics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Sector Distribution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029200" y="1371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Distribution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182880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AAPL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79" y="182880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26.0%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219456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MSFT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219456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25.3%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0" y="2560320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GOOGL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2560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22.0%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92607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AMZN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92607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16.9%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0" y="3291839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TSLA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291839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200" b="1"/>
            </a:pPr>
            <a:r>
              <a:t>9.8%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Key Data Insights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18872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Strong MarketCap Performance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Total MarketCap of $15462.6B with average of $3092.5B per record, demonstrating solid execution.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468880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60604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CurrentPrice Consistency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Standard deviation of $124.20 indicates moderate variability in performance.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749039"/>
            <a:ext cx="8229600" cy="1097280"/>
          </a:xfrm>
          <a:prstGeom prst="rect">
            <a:avLst/>
          </a:prstGeom>
          <a:solidFill>
            <a:srgbClr val="ECF0F1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886200"/>
            <a:ext cx="78638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192A56"/>
                </a:solidFill>
              </a:defRPr>
            </a:pPr>
            <a:r>
              <a:t>Category Diversity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51959"/>
            <a:ext cx="7863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34495E"/>
                </a:solidFill>
              </a:defRPr>
            </a:pPr>
            <a:r>
              <a:t>Analysis spans 5 distinct categories in Ticker, providing comprehensive market coverage and insights.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ectangle 17"/>
          <p:cNvSpPr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solidFill>
            <a:srgbClr val="ECF0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solidFill>
            <a:srgbClr val="F1C4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Top Performers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Rank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188720"/>
            <a:ext cx="3200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1828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66560" y="1188720"/>
            <a:ext cx="1645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192A56"/>
                </a:solidFill>
              </a:defRPr>
            </a:pPr>
            <a:r>
              <a:t>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6459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AAPL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54880" y="16459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$4027.7B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16459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0116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MSFT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20116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$3907.6B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20116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3774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23774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GOOGL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54880" y="23774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$3398.9B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0" y="23774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Excellent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274320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274320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AMZN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74320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$2610.0B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766560" y="274320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10896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310896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TSLA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310896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$1518.4B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66560" y="310896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47472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347472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54880" y="347472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766560" y="347472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Strong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84048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71600" y="384048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384048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384048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" y="4206240"/>
            <a:ext cx="548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/>
            </a:pPr>
            <a: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371600" y="4206240"/>
            <a:ext cx="3200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nan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54880" y="4206240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/>
            </a:pPr>
            <a:r>
              <a:t>$nan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766560" y="4206240"/>
            <a:ext cx="16459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27AE60"/>
                </a:solidFill>
              </a:defRPr>
            </a:pPr>
            <a:r>
              <a:t>✓ Good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192A56"/>
                </a:solidFill>
              </a:defRPr>
            </a:pPr>
            <a:r>
              <a:t>Trend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4114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Upward trajectory observed in key metrics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Growth rate remains consistent with projections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Seasonal patterns identified for optimization</a:t>
            </a:r>
          </a:p>
          <a:p>
            <a:pPr>
              <a:spcAft>
                <a:spcPts val="1000"/>
              </a:spcAft>
              <a:defRPr sz="1400">
                <a:solidFill>
                  <a:srgbClr val="34495E"/>
                </a:solidFill>
              </a:defRPr>
            </a:pPr>
            <a:r>
              <a:t>• Positive outlook for next reporting period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4754880" y="1188720"/>
          <a:ext cx="393192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92A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</a:defRPr>
            </a:pPr>
            <a:r>
              <a:t>Summary &amp;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926080"/>
            <a:ext cx="64008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Comprehensive analysis completed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Key insights identified for action</a:t>
            </a:r>
          </a:p>
          <a:p>
            <a:pPr algn="ctr">
              <a:spcAft>
                <a:spcPts val="1200"/>
              </a:spcAft>
              <a:defRPr sz="1800">
                <a:solidFill>
                  <a:srgbClr val="3498DB"/>
                </a:solidFill>
              </a:defRPr>
            </a:pPr>
            <a:r>
              <a:t>✓ Data-driven recommendations provided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5720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ECF0F1"/>
                </a:solidFill>
              </a:defRPr>
            </a:pPr>
            <a:r>
              <a:t>Generated by FinDeck | November 06, 2025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