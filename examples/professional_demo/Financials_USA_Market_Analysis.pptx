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Top Items by MarketCap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 Paseo </c:v>
                </c:pt>
                <c:pt idx="1">
                  <c:v> VTT </c:v>
                </c:pt>
                <c:pt idx="2">
                  <c:v> Velo </c:v>
                </c:pt>
                <c:pt idx="3">
                  <c:v> Amarilla </c:v>
                </c:pt>
                <c:pt idx="4">
                  <c:v> Montana </c:v>
                </c:pt>
                <c:pt idx="5">
                  <c:v> Carretera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Multi-Metric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17747116.07</c:v>
                </c:pt>
                <c:pt idx="1">
                  <c:v>13815307.89</c:v>
                </c:pt>
                <c:pt idx="2">
                  <c:v>15390801.88</c:v>
                </c:pt>
                <c:pt idx="3">
                  <c:v>33011143.96</c:v>
                </c:pt>
                <c:pt idx="4">
                  <c:v>20511921.02</c:v>
                </c:pt>
                <c:pt idx="5">
                  <c:v>18250059.47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Return_1Y_%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16.54</c:v>
                </c:pt>
                <c:pt idx="1">
                  <c:v>14.9</c:v>
                </c:pt>
                <c:pt idx="2">
                  <c:v>14.11</c:v>
                </c:pt>
                <c:pt idx="3">
                  <c:v>14.9</c:v>
                </c:pt>
                <c:pt idx="4">
                  <c:v>15.39</c:v>
                </c:pt>
                <c:pt idx="5">
                  <c:v>13.32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6.04</c:v>
                </c:pt>
                <c:pt idx="1">
                  <c:v>6.71</c:v>
                </c:pt>
                <c:pt idx="2">
                  <c:v>7.09</c:v>
                </c:pt>
                <c:pt idx="3">
                  <c:v>6.71</c:v>
                </c:pt>
                <c:pt idx="4">
                  <c:v>6.5</c:v>
                </c:pt>
                <c:pt idx="5">
                  <c:v>7.51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Distribution by Sector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Consumer Goods</c:v>
                </c:pt>
                <c:pt idx="1">
                  <c:v>Consumer Goods</c:v>
                </c:pt>
                <c:pt idx="2">
                  <c:v>Consumer Goods</c:v>
                </c:pt>
                <c:pt idx="3">
                  <c:v>Consumer Goods</c:v>
                </c:pt>
                <c:pt idx="4">
                  <c:v>Consumer Goods</c:v>
                </c:pt>
                <c:pt idx="5">
                  <c:v>Consumer Goods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33011143.96</c:v>
                </c:pt>
                <c:pt idx="1">
                  <c:v>20511921.02</c:v>
                </c:pt>
                <c:pt idx="2">
                  <c:v>18250059.47</c:v>
                </c:pt>
                <c:pt idx="3">
                  <c:v>17747116.07</c:v>
                </c:pt>
                <c:pt idx="4">
                  <c:v>15390801.88</c:v>
                </c:pt>
                <c:pt idx="5">
                  <c:v>13815307.89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C62828"/>
                </a:solidFill>
              </a:defRPr>
            </a:pPr>
            <a:r>
              <a:t>USA Market Performance - Deep Dive Analysis 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USA Market Research Division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53935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Analyzing 6 entities across 7 key metrics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 Paseo  leads with $33.01M in MarketCap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6 out of 6 showing positive Return 1Y % (100%)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Portfolio spans 1 sectors, Consumer Goods has 6 entities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Average P/E ratio of 6.8x indicates reasonable 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 (Millions)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$118.73M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Moderate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Data Insights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Consumer Goods: 6 out of 6 entities (100.0%)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Amarilla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Amarilla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VTT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VTT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15.39%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Carretera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Carretera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Paseo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Paseo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Montana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Montana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 Amarilla  ( Amarilla  Product) leads the portfolio with an impressive 16.54%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680960" cy="4572000"/>
          </a:xfrm>
          <a:prstGeom prst="rect">
            <a:avLst/>
          </a:prstGeom>
          <a:solidFill>
            <a:srgbClr val="F8F9FA"/>
          </a:solidFill>
          <a:ln w="254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6949440" cy="384048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Amarilla  showed strong momentum with 16.5% annual return and $17.75M market cap, demonstrating solid investor confidence.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VTT  showed strong momentum with 15.4% annual return and $20.51M market cap, demonstrating solid investor confidence.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200"/>
              </a:spcAft>
              <a:defRPr sz="1600">
                <a:solidFill>
                  <a:srgbClr val="343A40"/>
                </a:solidFill>
                <a:latin typeface="Calibri"/>
              </a:defRPr>
            </a:pPr>
            <a:r>
              <a:t>✓  Carretera  showed strong momentum with 14.9% annual return and $13.82M market cap, demonstrating solid investor confidence.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2828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USA Market Research Division</a:t>
            </a:r>
          </a:p>
          <a:p>
            <a:r>
              <a:t>usa@market-research.com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