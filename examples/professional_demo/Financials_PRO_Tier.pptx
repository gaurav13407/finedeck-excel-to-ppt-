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600" b="1"/>
            </a:pPr>
            <a:r>
              <a:t>Top Items by MarketCap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dPt>
            <c:idx val="0"/>
            <c:spPr>
              <a:solidFill>
                <a:srgbClr val="2196F3"/>
              </a:solidFill>
            </c:spPr>
          </c:dPt>
          <c:dPt>
            <c:idx val="1"/>
            <c:spPr>
              <a:solidFill>
                <a:srgbClr val="2E7D32"/>
              </a:solidFill>
            </c:spPr>
          </c:dPt>
          <c:dPt>
            <c:idx val="2"/>
            <c:spPr>
              <a:solidFill>
                <a:srgbClr val="FFC107"/>
              </a:solidFill>
            </c:spPr>
          </c:dPt>
          <c:dPt>
            <c:idx val="3"/>
            <c:spPr>
              <a:solidFill>
                <a:srgbClr val="D32F2F"/>
              </a:solidFill>
            </c:spPr>
          </c:dPt>
          <c:dPt>
            <c:idx val="4"/>
            <c:spPr>
              <a:solidFill>
                <a:srgbClr val="9C27B0"/>
              </a:solidFill>
            </c:spPr>
          </c:dPt>
          <c:dPt>
            <c:idx val="5"/>
            <c:spPr>
              <a:solidFill>
                <a:srgbClr val="FF9800"/>
              </a:solidFill>
            </c:spPr>
          </c:dPt>
          <c:cat>
            <c:strRef>
              <c:f>Sheet1!$A$2:$A$7</c:f>
              <c:strCache>
                <c:ptCount val="6"/>
                <c:pt idx="0">
                  <c:v> Paseo </c:v>
                </c:pt>
                <c:pt idx="1">
                  <c:v> VTT </c:v>
                </c:pt>
                <c:pt idx="2">
                  <c:v> Velo </c:v>
                </c:pt>
                <c:pt idx="3">
                  <c:v> Amarilla </c:v>
                </c:pt>
                <c:pt idx="4">
                  <c:v> Montana </c:v>
                </c:pt>
                <c:pt idx="5">
                  <c:v> Carretera 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27.8</c:v>
                </c:pt>
                <c:pt idx="1">
                  <c:v>17.28</c:v>
                </c:pt>
                <c:pt idx="2">
                  <c:v>15.37</c:v>
                </c:pt>
                <c:pt idx="3">
                  <c:v>14.95</c:v>
                </c:pt>
                <c:pt idx="4">
                  <c:v>12.96</c:v>
                </c:pt>
                <c:pt idx="5">
                  <c:v>11.64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600" b="1"/>
            </a:pPr>
            <a:r>
              <a:t>Multi-Metric Comparison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MarketCap</c:v>
                </c:pt>
              </c:strCache>
            </c:strRef>
          </c:tx>
          <c:cat>
            <c:strRef>
              <c:f>Sheet1!$A$2:$A$7</c:f>
              <c:strCache>
                <c:ptCount val="6"/>
                <c:pt idx="0">
                  <c:v> Amarilla </c:v>
                </c:pt>
                <c:pt idx="1">
                  <c:v> Carretera </c:v>
                </c:pt>
                <c:pt idx="2">
                  <c:v> Montana </c:v>
                </c:pt>
                <c:pt idx="3">
                  <c:v> Paseo </c:v>
                </c:pt>
                <c:pt idx="4">
                  <c:v> VTT </c:v>
                </c:pt>
                <c:pt idx="5">
                  <c:v> Velo 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14.95</c:v>
                </c:pt>
                <c:pt idx="1">
                  <c:v>11.64</c:v>
                </c:pt>
                <c:pt idx="2">
                  <c:v>12.96</c:v>
                </c:pt>
                <c:pt idx="3">
                  <c:v>27.8</c:v>
                </c:pt>
                <c:pt idx="4">
                  <c:v>17.28</c:v>
                </c:pt>
                <c:pt idx="5">
                  <c:v>15.37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Return_1Y_%</c:v>
                </c:pt>
              </c:strCache>
            </c:strRef>
          </c:tx>
          <c:cat>
            <c:strRef>
              <c:f>Sheet1!$A$2:$A$7</c:f>
              <c:strCache>
                <c:ptCount val="6"/>
                <c:pt idx="0">
                  <c:v> Amarilla </c:v>
                </c:pt>
                <c:pt idx="1">
                  <c:v> Carretera </c:v>
                </c:pt>
                <c:pt idx="2">
                  <c:v> Montana </c:v>
                </c:pt>
                <c:pt idx="3">
                  <c:v> Paseo </c:v>
                </c:pt>
                <c:pt idx="4">
                  <c:v> VTT </c:v>
                </c:pt>
                <c:pt idx="5">
                  <c:v> Velo 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16.54</c:v>
                </c:pt>
                <c:pt idx="1">
                  <c:v>14.9</c:v>
                </c:pt>
                <c:pt idx="2">
                  <c:v>14.11</c:v>
                </c:pt>
                <c:pt idx="3">
                  <c:v>14.9</c:v>
                </c:pt>
                <c:pt idx="4">
                  <c:v>15.39</c:v>
                </c:pt>
                <c:pt idx="5">
                  <c:v>13.32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TrailingPE</c:v>
                </c:pt>
              </c:strCache>
            </c:strRef>
          </c:tx>
          <c:cat>
            <c:strRef>
              <c:f>Sheet1!$A$2:$A$7</c:f>
              <c:strCache>
                <c:ptCount val="6"/>
                <c:pt idx="0">
                  <c:v> Amarilla </c:v>
                </c:pt>
                <c:pt idx="1">
                  <c:v> Carretera </c:v>
                </c:pt>
                <c:pt idx="2">
                  <c:v> Montana </c:v>
                </c:pt>
                <c:pt idx="3">
                  <c:v> Paseo </c:v>
                </c:pt>
                <c:pt idx="4">
                  <c:v> VTT </c:v>
                </c:pt>
                <c:pt idx="5">
                  <c:v> Velo 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6.04</c:v>
                </c:pt>
                <c:pt idx="1">
                  <c:v>6.71</c:v>
                </c:pt>
                <c:pt idx="2">
                  <c:v>7.09</c:v>
                </c:pt>
                <c:pt idx="3">
                  <c:v>6.71</c:v>
                </c:pt>
                <c:pt idx="4">
                  <c:v>6.5</c:v>
                </c:pt>
                <c:pt idx="5">
                  <c:v>7.51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pPr>
              <a:defRPr sz="1600" b="1"/>
            </a:pPr>
            <a:r>
              <a:t>Category Distribution</a:t>
            </a:r>
          </a:p>
        </c:rich>
      </c:tx>
      <c:layout/>
      <c:overlay val="0"/>
    </c:title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dPt>
            <c:idx val="0"/>
            <c:spPr>
              <a:solidFill>
                <a:srgbClr val="2196F3"/>
              </a:solidFill>
            </c:spPr>
          </c:dPt>
          <c:cat>
            <c:strRef>
              <c:f>Sheet1!$A$2:$A$2</c:f>
              <c:strCache>
                <c:ptCount val="1"/>
                <c:pt idx="0">
                  <c:v>Consumer Goods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6</c:v>
                </c:pt>
              </c:numCache>
            </c:numRef>
          </c:val>
        </c:ser>
        <c:dLbls>
          <c:showLegendKey val="0"/>
          <c:showVal val="1"/>
          <c:showCatName val="1"/>
          <c:showSerName val="0"/>
          <c:showPercent val="1"/>
          <c:showBubbleSize val="0"/>
          <c:showLeaderLines val="1"/>
        </c:dLbls>
      </c:pieChart>
    </c:plotArea>
    <c:legend>
      <c:legendPos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365760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  <a:defRPr sz="4800" b="1">
                <a:solidFill>
                  <a:srgbClr val="C62828"/>
                </a:solidFill>
              </a:defRPr>
            </a:pPr>
            <a:r>
              <a:t>Comprehensive Financial Analysis - Q4 2025 (PRO)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6576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646464"/>
                </a:solidFill>
              </a:defRPr>
            </a:pPr>
            <a:r>
              <a:t>Generated on November 2025</a:t>
            </a:r>
          </a:p>
          <a:p>
            <a:r>
              <a:t>by Investment Analytics Ltd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E53935"/>
                </a:solidFill>
              </a:defRPr>
            </a:pPr>
            <a:r>
              <a:t>📊 Powered by Excel-to-PPT AI Converter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📊 Executive Summary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8046720" cy="4754880"/>
          </a:xfrm>
          <a:prstGeom prst="rect">
            <a:avLst/>
          </a:prstGeom>
          <a:solidFill>
            <a:srgbClr val="F8F9FA"/>
          </a:solidFill>
          <a:ln w="25400">
            <a:solidFill>
              <a:srgbClr val="C8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645920"/>
            <a:ext cx="6949440" cy="4114800"/>
          </a:xfrm>
          <a:prstGeom prst="rect">
            <a:avLst/>
          </a:prstGeom>
          <a:noFill/>
        </p:spPr>
        <p:txBody>
          <a:bodyPr wrap="square" lIns="182880">
            <a:spAutoFit/>
          </a:bodyPr>
          <a:lstStyle/>
          <a:p>
            <a:pPr>
              <a:lnSpc>
                <a:spcPct val="130000"/>
              </a:lnSpc>
              <a:spcBef>
                <a:spcPts val="500"/>
              </a:spcBef>
              <a:spcAft>
                <a:spcPts val="1500"/>
              </a:spcAft>
              <a:defRPr sz="1800">
                <a:latin typeface="Calibri"/>
              </a:defRPr>
            </a:pPr>
            <a:r>
              <a:t>✓ Analyzing 6 entities across 7 key metrics</a:t>
            </a:r>
          </a:p>
          <a:p>
            <a:pPr>
              <a:lnSpc>
                <a:spcPct val="130000"/>
              </a:lnSpc>
              <a:spcBef>
                <a:spcPts val="500"/>
              </a:spcBef>
              <a:spcAft>
                <a:spcPts val="1500"/>
              </a:spcAft>
              <a:defRPr sz="1800">
                <a:latin typeface="Calibri"/>
              </a:defRPr>
            </a:pPr>
            <a:r>
              <a:t>✓  Paseo  leads with $27.80 in MarketCap</a:t>
            </a:r>
          </a:p>
          <a:p>
            <a:pPr>
              <a:lnSpc>
                <a:spcPct val="130000"/>
              </a:lnSpc>
              <a:spcBef>
                <a:spcPts val="500"/>
              </a:spcBef>
              <a:spcAft>
                <a:spcPts val="1500"/>
              </a:spcAft>
              <a:defRPr sz="1800">
                <a:latin typeface="Calibri"/>
              </a:defRPr>
            </a:pPr>
            <a:r>
              <a:t>✓ 6 out of 6 showing positive Return 1Y % (100%)</a:t>
            </a:r>
          </a:p>
          <a:p>
            <a:pPr>
              <a:lnSpc>
                <a:spcPct val="130000"/>
              </a:lnSpc>
              <a:spcBef>
                <a:spcPts val="500"/>
              </a:spcBef>
              <a:spcAft>
                <a:spcPts val="1500"/>
              </a:spcAft>
              <a:defRPr sz="1800">
                <a:latin typeface="Calibri"/>
              </a:defRPr>
            </a:pPr>
            <a:r>
              <a:t>✓ Portfolio spans 1 sectors, Consumer Goods has 6 entities</a:t>
            </a:r>
          </a:p>
          <a:p>
            <a:pPr>
              <a:lnSpc>
                <a:spcPct val="130000"/>
              </a:lnSpc>
              <a:spcBef>
                <a:spcPts val="500"/>
              </a:spcBef>
              <a:spcAft>
                <a:spcPts val="1500"/>
              </a:spcAft>
              <a:defRPr sz="1800">
                <a:latin typeface="Calibri"/>
              </a:defRPr>
            </a:pPr>
            <a:r>
              <a:t>✓ Average P/E ratio of 6.8x indicates reasonable valuation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💵 Key Metrics Overview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463040"/>
            <a:ext cx="3840480" cy="2011680"/>
          </a:xfrm>
          <a:prstGeom prst="rect">
            <a:avLst/>
          </a:prstGeom>
          <a:solidFill>
            <a:srgbClr val="1F4E78"/>
          </a:solidFill>
          <a:ln w="12700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3474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Total Market 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34747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$0.0B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834640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C8FFC8"/>
                </a:solidFill>
              </a:defRPr>
            </a:pPr>
            <a:r>
              <a:t>↗️ +12.5%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0" y="1463040"/>
            <a:ext cx="3840480" cy="2011680"/>
          </a:xfrm>
          <a:prstGeom prst="rect">
            <a:avLst/>
          </a:prstGeom>
          <a:solidFill>
            <a:srgbClr val="4F81BD"/>
          </a:solidFill>
          <a:ln w="12700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937760" y="1737360"/>
            <a:ext cx="3474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Avg 1Y Return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2286000"/>
            <a:ext cx="34747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14.9%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2834640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FFC8C8"/>
                </a:solidFill>
              </a:defRPr>
            </a:pPr>
            <a:r>
              <a:t>→ Moderate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749040"/>
            <a:ext cx="3840480" cy="2011680"/>
          </a:xfrm>
          <a:prstGeom prst="rect">
            <a:avLst/>
          </a:prstGeom>
          <a:solidFill>
            <a:srgbClr val="2E75B5"/>
          </a:solidFill>
          <a:ln w="12700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4023360"/>
            <a:ext cx="3474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Avg P/E Ratio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572000"/>
            <a:ext cx="34747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6.8x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120640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FFC8C8"/>
                </a:solidFill>
              </a:defRPr>
            </a:pPr>
            <a:r>
              <a:t>→ Stable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54880" y="3749040"/>
            <a:ext cx="3840480" cy="2011680"/>
          </a:xfrm>
          <a:prstGeom prst="rect">
            <a:avLst/>
          </a:prstGeom>
          <a:solidFill>
            <a:srgbClr val="5B9BD5"/>
          </a:solidFill>
          <a:ln w="12700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37760" y="4023360"/>
            <a:ext cx="3474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Portfolio Size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37760" y="4572000"/>
            <a:ext cx="34747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6 Stocks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37760" y="5120640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FFC8C8"/>
                </a:solidFill>
              </a:defRPr>
            </a:p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92A56"/>
                </a:solidFill>
              </a:defRPr>
            </a:pPr>
            <a:r>
              <a:t>� Data Insights Dashboard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57200" y="1188720"/>
          <a:ext cx="39319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754880" y="1188720"/>
          <a:ext cx="3931920" cy="47548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92A56"/>
                </a:solidFill>
              </a:defRPr>
            </a:pPr>
            <a:r>
              <a:t>🗂️ Sector Distribution Analysis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1371600" y="1371600"/>
          <a:ext cx="64008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5303520"/>
            <a:ext cx="76809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lnSpc>
                <a:spcPct val="130000"/>
              </a:lnSpc>
              <a:defRPr sz="1400" i="1">
                <a:solidFill>
                  <a:srgbClr val="343A40"/>
                </a:solidFill>
              </a:defRPr>
            </a:pPr>
            <a:r>
              <a:t>💡 Key Insight: Consumer Goods represents the entire market share at 100%.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92A56"/>
                </a:solidFill>
              </a:defRPr>
            </a:pPr>
            <a:r>
              <a:t>🏆 Top Performers - 1 Year Returns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371600" y="1371600"/>
          <a:ext cx="484632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/>
                <a:gridCol w="2286000"/>
                <a:gridCol w="1097280"/>
                <a:gridCol w="731520"/>
              </a:tblGrid>
              <a:tr h="53340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Ticker</a:t>
                      </a:r>
                    </a:p>
                  </a:txBody>
                  <a:tcPr>
                    <a:solidFill>
                      <a:srgbClr val="192A5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Company</a:t>
                      </a:r>
                    </a:p>
                  </a:txBody>
                  <a:tcPr>
                    <a:solidFill>
                      <a:srgbClr val="192A5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1Y Return %</a:t>
                      </a:r>
                    </a:p>
                  </a:txBody>
                  <a:tcPr>
                    <a:solidFill>
                      <a:srgbClr val="192A5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Status</a:t>
                      </a:r>
                    </a:p>
                  </a:txBody>
                  <a:tcPr>
                    <a:solidFill>
                      <a:srgbClr val="192A56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ctr">
                        <a:defRPr sz="1000" b="1"/>
                      </a:pPr>
                      <a:r>
                        <a:t> Amarilla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 Amarilla  Product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1"/>
                      </a:pPr>
                      <a:r>
                        <a:t>16.54%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🟠</a:t>
                      </a:r>
                    </a:p>
                  </a:txBody>
                  <a:tcPr>
                    <a:solidFill>
                      <a:srgbClr val="FFE0B2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ctr">
                        <a:defRPr sz="1000" b="1"/>
                      </a:pPr>
                      <a:r>
                        <a:t> VTT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 VTT  Product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1"/>
                      </a:pPr>
                      <a:r>
                        <a:t>15.39%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🟠</a:t>
                      </a:r>
                    </a:p>
                  </a:txBody>
                  <a:tcPr>
                    <a:solidFill>
                      <a:srgbClr val="FFE0B2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ctr">
                        <a:defRPr sz="1000" b="1"/>
                      </a:pPr>
                      <a:r>
                        <a:t> Carretera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 Carretera  Product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1"/>
                      </a:pPr>
                      <a:r>
                        <a:t>14.90%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🟠</a:t>
                      </a:r>
                    </a:p>
                  </a:txBody>
                  <a:tcPr>
                    <a:solidFill>
                      <a:srgbClr val="FFE0B2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ctr">
                        <a:defRPr sz="1000" b="1"/>
                      </a:pPr>
                      <a:r>
                        <a:t> Paseo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 Paseo  Product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1"/>
                      </a:pPr>
                      <a:r>
                        <a:t>14.90%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🟠</a:t>
                      </a:r>
                    </a:p>
                  </a:txBody>
                  <a:tcPr>
                    <a:solidFill>
                      <a:srgbClr val="FFE0B2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ctr">
                        <a:defRPr sz="1000" b="1"/>
                      </a:pPr>
                      <a:r>
                        <a:t> Montana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 Montana  Product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1"/>
                      </a:pPr>
                      <a:r>
                        <a:t>14.11%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🟠</a:t>
                      </a:r>
                    </a:p>
                  </a:txBody>
                  <a:tcPr>
                    <a:solidFill>
                      <a:srgbClr val="FFE0B2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1371600" y="4663440"/>
            <a:ext cx="6400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6464"/>
                </a:solidFill>
              </a:defRPr>
            </a:pPr>
            <a:r>
              <a:t>Legend: 🟢 Strong (&gt;50%)  🟡 Good (20-50%)  🟠 Moderate (0-20%)  🔴 Negative (&lt;0%)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029200"/>
            <a:ext cx="76809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lnSpc>
                <a:spcPct val="130000"/>
              </a:lnSpc>
              <a:defRPr sz="1400" i="1">
                <a:solidFill>
                  <a:srgbClr val="343A40"/>
                </a:solidFill>
              </a:defRPr>
            </a:pPr>
            <a:r>
              <a:t>💡  Amarilla  ( Amarilla  Product) leads the portfolio with an impressive 16.54% annual return, demonstrating exceptional market performance and strong investor confidence.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371600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486400"/>
            <a:ext cx="9144000" cy="13716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400" b="1">
                <a:solidFill>
                  <a:srgbClr val="C62828"/>
                </a:solidFill>
              </a:defRPr>
            </a:pPr>
            <a: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646464"/>
                </a:solidFill>
              </a:defRPr>
            </a:pPr>
            <a:r>
              <a:t>Investment Analytics Ltd</a:t>
            </a:r>
          </a:p>
          <a:p>
            <a:r>
              <a:t>pro@investment.com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4864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969696"/>
                </a:solidFill>
              </a:defRPr>
            </a:pPr>
            <a:r>
              <a:t>📊 Generated via Excel-to-PPT AI Converter</a:t>
            </a:r>
          </a:p>
          <a:p>
            <a:r>
              <a:t>www.exceltoppt.ai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