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Top Items by MarketCap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 Paseo </c:v>
                </c:pt>
                <c:pt idx="1">
                  <c:v> VTT </c:v>
                </c:pt>
                <c:pt idx="2">
                  <c:v> Velo </c:v>
                </c:pt>
                <c:pt idx="3">
                  <c:v> Amarilla </c:v>
                </c:pt>
                <c:pt idx="4">
                  <c:v> Montana </c:v>
                </c:pt>
                <c:pt idx="5">
                  <c:v> Carretera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33011143.96</c:v>
                </c:pt>
                <c:pt idx="1">
                  <c:v>20511921.02</c:v>
                </c:pt>
                <c:pt idx="2">
                  <c:v>18250059.47</c:v>
                </c:pt>
                <c:pt idx="3">
                  <c:v>17747116.07</c:v>
                </c:pt>
                <c:pt idx="4">
                  <c:v>15390801.88</c:v>
                </c:pt>
                <c:pt idx="5">
                  <c:v>13815307.89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Multi-Metric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17747116.07</c:v>
                </c:pt>
                <c:pt idx="1">
                  <c:v>13815307.89</c:v>
                </c:pt>
                <c:pt idx="2">
                  <c:v>15390801.88</c:v>
                </c:pt>
                <c:pt idx="3">
                  <c:v>33011143.96</c:v>
                </c:pt>
                <c:pt idx="4">
                  <c:v>20511921.02</c:v>
                </c:pt>
                <c:pt idx="5">
                  <c:v>18250059.47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Return_1Y_%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16.54</c:v>
                </c:pt>
                <c:pt idx="1">
                  <c:v>14.9</c:v>
                </c:pt>
                <c:pt idx="2">
                  <c:v>14.11</c:v>
                </c:pt>
                <c:pt idx="3">
                  <c:v>14.9</c:v>
                </c:pt>
                <c:pt idx="4">
                  <c:v>15.39</c:v>
                </c:pt>
                <c:pt idx="5">
                  <c:v>13.32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TrailingPE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6.04</c:v>
                </c:pt>
                <c:pt idx="1">
                  <c:v>6.71</c:v>
                </c:pt>
                <c:pt idx="2">
                  <c:v>7.09</c:v>
                </c:pt>
                <c:pt idx="3">
                  <c:v>6.71</c:v>
                </c:pt>
                <c:pt idx="4">
                  <c:v>6.5</c:v>
                </c:pt>
                <c:pt idx="5">
                  <c:v>7.51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Distribution by Sector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Consumer Goods</c:v>
                </c:pt>
                <c:pt idx="1">
                  <c:v>Consumer Goods</c:v>
                </c:pt>
                <c:pt idx="2">
                  <c:v>Consumer Goods</c:v>
                </c:pt>
                <c:pt idx="3">
                  <c:v>Consumer Goods</c:v>
                </c:pt>
                <c:pt idx="4">
                  <c:v>Consumer Goods</c:v>
                </c:pt>
                <c:pt idx="5">
                  <c:v>Consumer Goods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33011143.96</c:v>
                </c:pt>
                <c:pt idx="1">
                  <c:v>20511921.02</c:v>
                </c:pt>
                <c:pt idx="2">
                  <c:v>18250059.47</c:v>
                </c:pt>
                <c:pt idx="3">
                  <c:v>17747116.07</c:v>
                </c:pt>
                <c:pt idx="4">
                  <c:v>15390801.88</c:v>
                </c:pt>
                <c:pt idx="5">
                  <c:v>13815307.89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Comprehensive Financial Analysis - Q4 2025 (PRO)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Investment Analytics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Analyzing 6 entities across 7 key metrics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 Paseo  leads with $33.01M in MarketCap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6 out of 6 showing positive Return 1Y % (100%)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Portfolio spans 1 sectors, Consumer Goods has 6 entities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Average P/E ratio of 6.8x indicates reasonable 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 (Millions)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$118.73M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Moderate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� Data Insights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Key Insight: Consumer Goods: 6 out of 6 entities (100.0%)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Amarilla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Amarilla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16.54%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VTT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VTT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15.39%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Carretera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Carretera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Paseo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Paseo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Montana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Montana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 Amarilla  ( Amarilla  Product) leads the portfolio with an impressive 16.54%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Investment Analytics Ltd</a:t>
            </a:r>
          </a:p>
          <a:p>
            <a:r>
              <a:t>pro@investment.com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