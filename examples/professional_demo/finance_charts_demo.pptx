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 b="1">
                <a:solidFill>
                  <a:srgbClr val="192A56"/>
                </a:solidFill>
              </a:defRPr>
            </a:pPr>
            <a:r>
              <a:t>Revenue &amp; Profit Trend (Line Chart)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Sheet1!$A$2:$A$11</c:f>
              <c:strCache>
                <c:ptCount val="10"/>
                <c:pt idx="0">
                  <c:v>2025-10</c:v>
                </c:pt>
                <c:pt idx="1">
                  <c:v>2025-09</c:v>
                </c:pt>
                <c:pt idx="2">
                  <c:v>2025-08</c:v>
                </c:pt>
                <c:pt idx="3">
                  <c:v>2025-06</c:v>
                </c:pt>
                <c:pt idx="4">
                  <c:v>2025-07</c:v>
                </c:pt>
                <c:pt idx="5">
                  <c:v>2025-04</c:v>
                </c:pt>
                <c:pt idx="6">
                  <c:v>2025-05</c:v>
                </c:pt>
                <c:pt idx="7">
                  <c:v>2025-03</c:v>
                </c:pt>
                <c:pt idx="8">
                  <c:v>2025-02</c:v>
                </c:pt>
                <c:pt idx="9">
                  <c:v>2024-12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1456.0</c:v>
                </c:pt>
                <c:pt idx="1">
                  <c:v>1440.0</c:v>
                </c:pt>
                <c:pt idx="2">
                  <c:v>1410.0</c:v>
                </c:pt>
                <c:pt idx="3">
                  <c:v>1399.0</c:v>
                </c:pt>
                <c:pt idx="4">
                  <c:v>1279.0</c:v>
                </c:pt>
                <c:pt idx="5">
                  <c:v>1263.0</c:v>
                </c:pt>
                <c:pt idx="6">
                  <c:v>1216.0</c:v>
                </c:pt>
                <c:pt idx="7">
                  <c:v>1178.0</c:v>
                </c:pt>
                <c:pt idx="8">
                  <c:v>1143.0</c:v>
                </c:pt>
                <c:pt idx="9">
                  <c:v>1081.0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DCDCD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 b="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 b="1">
                <a:solidFill>
                  <a:srgbClr val="192A56"/>
                </a:solidFill>
              </a:defRPr>
            </a:pPr>
            <a:r>
              <a:t>Product Revenue Comparison (Column Chart)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Sheet1!$A$2:$A$9</c:f>
              <c:strCache>
                <c:ptCount val="8"/>
                <c:pt idx="0">
                  <c:v>Product 6</c:v>
                </c:pt>
                <c:pt idx="1">
                  <c:v>Product 7</c:v>
                </c:pt>
                <c:pt idx="2">
                  <c:v>Product 3</c:v>
                </c:pt>
                <c:pt idx="3">
                  <c:v>Product 1</c:v>
                </c:pt>
                <c:pt idx="4">
                  <c:v>Product 2</c:v>
                </c:pt>
                <c:pt idx="5">
                  <c:v>Product 8</c:v>
                </c:pt>
                <c:pt idx="6">
                  <c:v>Product 4</c:v>
                </c:pt>
                <c:pt idx="7">
                  <c:v>Product 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2100.0</c:v>
                </c:pt>
                <c:pt idx="1">
                  <c:v>1750.0</c:v>
                </c:pt>
                <c:pt idx="2">
                  <c:v>1500.0</c:v>
                </c:pt>
                <c:pt idx="3">
                  <c:v>1200.0</c:v>
                </c:pt>
                <c:pt idx="4">
                  <c:v>980.0</c:v>
                </c:pt>
                <c:pt idx="5">
                  <c:v>940.0</c:v>
                </c:pt>
                <c:pt idx="6">
                  <c:v>760.0</c:v>
                </c:pt>
                <c:pt idx="7">
                  <c:v>430.0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CDCD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 b="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2200" b="1">
                <a:solidFill>
                  <a:srgbClr val="192A56"/>
                </a:solidFill>
              </a:defRPr>
            </a:pPr>
            <a:r>
              <a:t>Market Share Distribution (Doughnut Chart)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MarketShare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Sheet1!$A$2:$A$7</c:f>
              <c:strCache>
                <c:ptCount val="6"/>
                <c:pt idx="0">
                  <c:v>Technology</c:v>
                </c:pt>
                <c:pt idx="1">
                  <c:v>Financials</c:v>
                </c:pt>
                <c:pt idx="2">
                  <c:v>Healthcare</c:v>
                </c:pt>
                <c:pt idx="3">
                  <c:v>Consumer</c:v>
                </c:pt>
                <c:pt idx="4">
                  <c:v>Energy</c:v>
                </c:pt>
                <c:pt idx="5">
                  <c:v>Utilities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35.0</c:v>
                </c:pt>
                <c:pt idx="1">
                  <c:v>20.0</c:v>
                </c:pt>
                <c:pt idx="2">
                  <c:v>18.0</c:v>
                </c:pt>
                <c:pt idx="3">
                  <c:v>12.0</c:v>
                </c:pt>
                <c:pt idx="4">
                  <c:v>8.0</c:v>
                </c:pt>
                <c:pt idx="5">
                  <c:v>7.0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2200" b="1">
                <a:solidFill>
                  <a:srgbClr val="192A56"/>
                </a:solidFill>
              </a:defRPr>
            </a:pPr>
            <a:r>
              <a:t>Regional Sales Ranking (Bar Chart)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Sheet1!$A$2:$A$7</c:f>
              <c:strCache>
                <c:ptCount val="6"/>
                <c:pt idx="0">
                  <c:v>Asia Pacific</c:v>
                </c:pt>
                <c:pt idx="1">
                  <c:v>North America</c:v>
                </c:pt>
                <c:pt idx="2">
                  <c:v>Europe</c:v>
                </c:pt>
                <c:pt idx="3">
                  <c:v>Latin America</c:v>
                </c:pt>
                <c:pt idx="4">
                  <c:v>Middle East</c:v>
                </c:pt>
                <c:pt idx="5">
                  <c:v>Africa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3200.0</c:v>
                </c:pt>
                <c:pt idx="1">
                  <c:v>2500.0</c:v>
                </c:pt>
                <c:pt idx="2">
                  <c:v>1800.0</c:v>
                </c:pt>
                <c:pt idx="3">
                  <c:v>950.0</c:v>
                </c:pt>
                <c:pt idx="4">
                  <c:v>600.0</c:v>
                </c:pt>
                <c:pt idx="5">
                  <c:v>450.0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200" b="1">
                <a:solidFill>
                  <a:srgbClr val="192A56"/>
                </a:solidFill>
              </a:defRPr>
            </a:pPr>
            <a:r>
              <a:t>Portfolio Performance (Multi-Line Chart)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Stock_A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Sheet1!$A$2:$A$6</c:f>
              <c:strCache>
                <c:ptCount val="5"/>
                <c:pt idx="0">
                  <c:v>Q1 2025</c:v>
                </c:pt>
                <c:pt idx="1">
                  <c:v>Q3 2024</c:v>
                </c:pt>
                <c:pt idx="2">
                  <c:v>Q4 2024</c:v>
                </c:pt>
                <c:pt idx="3">
                  <c:v>Q2 2024</c:v>
                </c:pt>
                <c:pt idx="4">
                  <c:v>Q1 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115.0</c:v>
                </c:pt>
                <c:pt idx="1">
                  <c:v>110.0</c:v>
                </c:pt>
                <c:pt idx="2">
                  <c:v>108.0</c:v>
                </c:pt>
                <c:pt idx="3">
                  <c:v>105.0</c:v>
                </c:pt>
                <c:pt idx="4">
                  <c:v>100.0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CDCD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 b="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