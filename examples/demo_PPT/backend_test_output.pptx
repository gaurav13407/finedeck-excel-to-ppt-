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Performance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1200000.0</c:v>
                </c:pt>
                <c:pt idx="1">
                  <c:v>1350000.0</c:v>
                </c:pt>
                <c:pt idx="2">
                  <c:v>1420000.0</c:v>
                </c:pt>
                <c:pt idx="3">
                  <c:v>1580000.0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240000.0</c:v>
                </c:pt>
                <c:pt idx="1">
                  <c:v>270000.0</c:v>
                </c:pt>
                <c:pt idx="2">
                  <c:v>284000.0</c:v>
                </c:pt>
                <c:pt idx="3">
                  <c:v>316000.0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Expenses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960000.0</c:v>
                </c:pt>
                <c:pt idx="1">
                  <c:v>1080000.0</c:v>
                </c:pt>
                <c:pt idx="2">
                  <c:v>1136000.0</c:v>
                </c:pt>
                <c:pt idx="3">
                  <c:v>1264000.0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Allocation %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45.0</c:v>
                </c:pt>
                <c:pt idx="5">
                  <c:v>30.0</c:v>
                </c:pt>
                <c:pt idx="6">
                  <c:v>15.0</c:v>
                </c:pt>
                <c:pt idx="7">
                  <c:v>5.0</c:v>
                </c:pt>
                <c:pt idx="8">
                  <c:v>5.0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850000.0</c:v>
                </c:pt>
                <c:pt idx="10">
                  <c:v>720000.0</c:v>
                </c:pt>
                <c:pt idx="11">
                  <c:v>650000.0</c:v>
                </c:pt>
                <c:pt idx="12">
                  <c:v>480000.0</c:v>
                </c:pt>
                <c:pt idx="13">
                  <c:v>320000.0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Data Insights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Stocks</c:v>
                </c:pt>
                <c:pt idx="5">
                  <c:v>Bonds</c:v>
                </c:pt>
                <c:pt idx="6">
                  <c:v>Real Estate</c:v>
                </c:pt>
                <c:pt idx="7">
                  <c:v>Commodities</c:v>
                </c:pt>
                <c:pt idx="8">
                  <c:v>Cash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1200000.0</c:v>
                </c:pt>
                <c:pt idx="1">
                  <c:v>1350000.0</c:v>
                </c:pt>
                <c:pt idx="2">
                  <c:v>1420000.0</c:v>
                </c:pt>
                <c:pt idx="3">
                  <c:v>1580000.0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Sector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228B22"/>
              </a:solidFill>
            </c:spPr>
          </c:dPt>
          <c:dPt>
            <c:idx val="1"/>
            <c:spPr>
              <a:solidFill>
                <a:srgbClr val="228B22"/>
              </a:solidFill>
            </c:spPr>
          </c:dPt>
          <c:dPt>
            <c:idx val="2"/>
            <c:spPr>
              <a:solidFill>
                <a:srgbClr val="228B22"/>
              </a:solidFill>
            </c:spPr>
          </c:dPt>
          <c:dPt>
            <c:idx val="3"/>
            <c:spPr>
              <a:solidFill>
                <a:srgbClr val="228B22"/>
              </a:solidFill>
            </c:spPr>
          </c:dPt>
          <c:cat>
            <c:strRef>
              <c:f>Sheet1!$A$2:$A$5</c:f>
              <c:strCache>
                <c:ptCount val="4"/>
                <c:pt idx="0">
                  <c:v>Q4 2024</c:v>
                </c:pt>
                <c:pt idx="1">
                  <c:v>Q3 2024</c:v>
                </c:pt>
                <c:pt idx="2">
                  <c:v>Q2 2024</c:v>
                </c:pt>
                <c:pt idx="3">
                  <c:v>Q1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1580000.0</c:v>
                </c:pt>
                <c:pt idx="1">
                  <c:v>1420000.0</c:v>
                </c:pt>
                <c:pt idx="2">
                  <c:v>1350000.0</c:v>
                </c:pt>
                <c:pt idx="3">
                  <c:v>1200000.0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Comparison Analysis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Q4 2024</c:v>
                </c:pt>
                <c:pt idx="1">
                  <c:v>Q3 2024</c:v>
                </c:pt>
                <c:pt idx="2">
                  <c:v>Q2 2024</c:v>
                </c:pt>
                <c:pt idx="3">
                  <c:v>Q1 2024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1580000.0</c:v>
                </c:pt>
                <c:pt idx="1">
                  <c:v>1420000.0</c:v>
                </c:pt>
                <c:pt idx="2">
                  <c:v>1350000.0</c:v>
                </c:pt>
                <c:pt idx="3">
                  <c:v>1200000.0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Q4 2024</c:v>
                </c:pt>
                <c:pt idx="1">
                  <c:v>Q3 2024</c:v>
                </c:pt>
                <c:pt idx="2">
                  <c:v>Q2 2024</c:v>
                </c:pt>
                <c:pt idx="3">
                  <c:v>Q1 2024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316000.0</c:v>
                </c:pt>
                <c:pt idx="1">
                  <c:v>284000.0</c:v>
                </c:pt>
                <c:pt idx="2">
                  <c:v>270000.0</c:v>
                </c:pt>
                <c:pt idx="3">
                  <c:v>240000.0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Expenses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Q4 2024</c:v>
                </c:pt>
                <c:pt idx="1">
                  <c:v>Q3 2024</c:v>
                </c:pt>
                <c:pt idx="2">
                  <c:v>Q2 2024</c:v>
                </c:pt>
                <c:pt idx="3">
                  <c:v>Q1 2024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1264000.0</c:v>
                </c:pt>
                <c:pt idx="1">
                  <c:v>1136000.0</c:v>
                </c:pt>
                <c:pt idx="2">
                  <c:v>1080000.0</c:v>
                </c:pt>
                <c:pt idx="3">
                  <c:v>960000.0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Trend Analysis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Stocks</c:v>
                </c:pt>
                <c:pt idx="5">
                  <c:v>Bonds</c:v>
                </c:pt>
                <c:pt idx="6">
                  <c:v>Real Estate</c:v>
                </c:pt>
                <c:pt idx="7">
                  <c:v>Commodities</c:v>
                </c:pt>
                <c:pt idx="8">
                  <c:v>Cash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1200000.0</c:v>
                </c:pt>
                <c:pt idx="1">
                  <c:v>1350000.0</c:v>
                </c:pt>
                <c:pt idx="2">
                  <c:v>1420000.0</c:v>
                </c:pt>
                <c:pt idx="3">
                  <c:v>1580000.0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C62828"/>
                </a:solidFill>
              </a:defRPr>
            </a:pPr>
            <a:r>
              <a:t>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Backend Test - Advanced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53935"/>
                </a:solidFill>
              </a:defRPr>
            </a:pPr>
            <a:r>
              <a:t>Comprehensive Business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</a:defRPr>
            </a:pPr>
            <a:r>
              <a:t>November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E53935"/>
                </a:solidFill>
              </a:defRPr>
            </a:pPr>
            <a:r>
              <a:t>Powered by FinDeck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486400"/>
            <a:ext cx="1828800" cy="914400"/>
          </a:xfrm>
          <a:prstGeom prst="roundRect">
            <a:avLst/>
          </a:prstGeom>
          <a:solidFill>
            <a:srgbClr val="E53935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62828"/>
                </a:solidFill>
              </a:defRPr>
            </a:pPr>
            <a: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Analysis </a:t>
            </a:r>
            <a:r>
              <a:t>covers </a:t>
            </a:r>
            <a:r>
              <a:t>14 </a:t>
            </a:r>
            <a:r>
              <a:t>data </a:t>
            </a:r>
            <a:r>
              <a:t>points </a:t>
            </a:r>
            <a:r>
              <a:t>across </a:t>
            </a:r>
            <a:r>
              <a:t>9 </a:t>
            </a:r>
            <a:r>
              <a:t>dimensions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Revenue: </a:t>
            </a:r>
            <a:r>
              <a:t>Total </a:t>
            </a:r>
            <a:r>
              <a:t>of </a:t>
            </a:r>
            <a:r>
              <a:t>$5.5M, </a:t>
            </a:r>
            <a:r>
              <a:t>averaging </a:t>
            </a:r>
            <a:r>
              <a:t>$1.4M </a:t>
            </a:r>
            <a:r>
              <a:t>per </a:t>
            </a:r>
            <a:r>
              <a:t>record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b="1">
                <a:solidFill>
                  <a:srgbClr val="2E7D32"/>
                </a:solidFill>
              </a:rPr>
              <a:t>Profit: </a:t>
            </a:r>
            <a:r>
              <a:t>Total </a:t>
            </a:r>
            <a:r>
              <a:t>of </a:t>
            </a:r>
            <a:r>
              <a:t>$1.1M, </a:t>
            </a:r>
            <a:r>
              <a:t>averaging </a:t>
            </a:r>
            <a:r>
              <a:t>$277.5K </a:t>
            </a:r>
            <a:r>
              <a:t>per </a:t>
            </a:r>
            <a:r>
              <a:t>record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Expenses: </a:t>
            </a:r>
            <a:r>
              <a:t>Total </a:t>
            </a:r>
            <a:r>
              <a:t>of </a:t>
            </a:r>
            <a:r>
              <a:t>$4.4M, </a:t>
            </a:r>
            <a:r>
              <a:t>averaging </a:t>
            </a:r>
            <a:r>
              <a:t>$1.1M </a:t>
            </a:r>
            <a:r>
              <a:t>per </a:t>
            </a:r>
            <a:r>
              <a:t>record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4 </a:t>
            </a:r>
            <a:r>
              <a:t>unique </a:t>
            </a:r>
            <a:r>
              <a:t>categories </a:t>
            </a:r>
            <a:r>
              <a:t>identified </a:t>
            </a:r>
            <a:r>
              <a:t>in </a:t>
            </a:r>
            <a:r>
              <a:t>Quarter </a:t>
            </a:r>
            <a:r>
              <a:t>dimension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62828"/>
                </a:solidFill>
              </a:defRPr>
            </a:pPr>
            <a:r>
              <a:t>🤖 AI-Powered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Analysis covers 14 data points across 9 dimensions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Revenue: Total of $5.5M, averaging $1.4M per record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Profit: Total of $1.1M, averaging $277.5K per record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Expenses: Total of $4.4M, averaging $1.1M per record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4 unique categories identified in Quarter dimension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/>
            <a:r>
              <a:rPr sz="1400" b="1">
                <a:solidFill>
                  <a:srgbClr val="C62828"/>
                </a:solidFill>
              </a:rPr>
              <a:t>📝 Analyst Notes: </a:t>
            </a:r>
            <a:r>
              <a:rPr sz="1200">
                <a:solidFill>
                  <a:srgbClr val="34495E"/>
                </a:solidFill>
              </a:rPr>
              <a:t>Data-driven insights generated by FinDeck AI analyzing key trends and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62828"/>
                </a:solidFill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62828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→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188720"/>
            <a:ext cx="228600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</a:defRPr>
            </a:pPr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8288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62828"/>
                </a:solidFill>
              </a:defRPr>
            </a:pPr>
            <a:r>
              <a:t>$5.5M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77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28600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</a:defRPr>
            </a:pPr>
            <a: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62828"/>
                </a:solidFill>
              </a:defRPr>
            </a:pPr>
            <a:r>
              <a:t>$1.1M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017520"/>
            <a:ext cx="228600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495E"/>
                </a:solidFill>
              </a:defRPr>
            </a:pPr>
            <a:r>
              <a:t>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6576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62828"/>
                </a:solidFill>
              </a:defRPr>
            </a:pPr>
            <a:r>
              <a:t>$4.4M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2062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486400" y="1188720"/>
          <a:ext cx="33832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62828"/>
                </a:solidFill>
              </a:defRPr>
            </a:pPr>
            <a:r>
              <a:t>Data Insights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Revenue totals $5.5M with strong performance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Profit shows $31.6K standard deviation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Most common category: Q1 2024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Data quality verified across all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62828"/>
                </a:solidFill>
              </a:defRPr>
            </a:pPr>
            <a:r>
              <a:t>Sector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62828"/>
                </a:solidFill>
              </a:defRPr>
            </a:pPr>
            <a:r>
              <a:t>Distribution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Q4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28.5%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Q3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25.6%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Q2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60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24.3%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7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Q1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26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21.6%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62828"/>
                </a:solidFill>
              </a:defRPr>
            </a:pPr>
            <a:r>
              <a:t>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ECEFF1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62828"/>
                </a:solidFill>
              </a:defRPr>
            </a:pPr>
            <a:r>
              <a:t>Strong Revenue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Total Revenue of $5.5M with average of $1.4M per record, demonstrating solid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ECEFF1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62828"/>
                </a:solidFill>
              </a:defRPr>
            </a:pPr>
            <a:r>
              <a:t>Profit Consistency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Standard deviation of $31.6K indicates low variability in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8229600" cy="1097280"/>
          </a:xfrm>
          <a:prstGeom prst="rect">
            <a:avLst/>
          </a:prstGeom>
          <a:solidFill>
            <a:srgbClr val="ECEFF1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62828"/>
                </a:solidFill>
              </a:defRPr>
            </a:pPr>
            <a:r>
              <a:t>Category Diversity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5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Analysis spans 4 distinct categories in Quarter, providing comprehensive market coverage and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62828"/>
                </a:solidFill>
              </a:defRPr>
            </a:pPr>
            <a:r>
              <a:t>Top Performers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0" y="1188720"/>
          <a:ext cx="38404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188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62828"/>
                </a:solidFill>
              </a:defRPr>
            </a:pPr>
            <a:r>
              <a:t>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62828"/>
                </a:solidFill>
              </a:defRPr>
            </a:pPr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62828"/>
                </a:solidFill>
              </a:defRPr>
            </a:pPr>
            <a:r>
              <a:t>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457200" cy="2926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Q4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4592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$1.6M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93392"/>
            <a:ext cx="457200" cy="2926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93392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9339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Q3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93392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$1.4M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40864"/>
            <a:ext cx="457200" cy="2926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40864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40864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Q2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4086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$1.4M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88336"/>
            <a:ext cx="457200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88336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688336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Q1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688336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$1.2M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35808"/>
            <a:ext cx="457200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35808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035808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nan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035808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$nan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79"/>
            <a:ext cx="457200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383279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383279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nan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383279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$nan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30752"/>
            <a:ext cx="457200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730752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73075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nan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730752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$nan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78224"/>
            <a:ext cx="457200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078224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078224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nan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07822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$nan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62828"/>
                </a:solidFill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Upward trajectory observed in key metrics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Growth rate remains consistent with projections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Seasonal patterns identified for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Positive outlook for next reporting period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200"/>
              </a:spcAft>
              <a:defRPr sz="1800">
                <a:solidFill>
                  <a:srgbClr val="E53935"/>
                </a:solidFill>
              </a:defRPr>
            </a:pPr>
            <a:r>
              <a:t>✓ Comprehensive analysis completed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E53935"/>
                </a:solidFill>
              </a:defRPr>
            </a:pPr>
            <a:r>
              <a:t>✓ Key insights identified for action</a:t>
            </a:r>
          </a:p>
          <a:p>
            <a:pPr algn="ctr">
              <a:spcAft>
                <a:spcPts val="1200"/>
              </a:spcAft>
              <a:defRPr sz="1800">
                <a:solidFill>
                  <a:srgbClr val="E53935"/>
                </a:solidFill>
              </a:defRPr>
            </a:pPr>
            <a:r>
              <a:t>✓ Data-driven recommendations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EFF1"/>
                </a:solidFill>
              </a:defRPr>
            </a:pPr>
            <a:r>
              <a:t>Generated by FinDeck | November 10,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