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3000" b="1">
                <a:solidFill>
                  <a:srgbClr val="004F9E"/>
                </a:solidFill>
                <a:latin typeface="Segoe UI"/>
              </a:defRPr>
            </a:pPr>
            <a:r>
              <a:t>Performance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Q4 2024</c:v>
                </c:pt>
                <c:pt idx="1">
                  <c:v>Q3 2024</c:v>
                </c:pt>
                <c:pt idx="2">
                  <c:v>Q2 2024</c:v>
                </c:pt>
                <c:pt idx="3">
                  <c:v>Q1 2024</c:v>
                </c:pt>
                <c:pt idx="4">
                  <c:v>0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1580000.0</c:v>
                </c:pt>
                <c:pt idx="1">
                  <c:v>1420000.0</c:v>
                </c:pt>
                <c:pt idx="2">
                  <c:v>1350000.0</c:v>
                </c:pt>
                <c:pt idx="3">
                  <c:v>1200000.0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Q4 2024</c:v>
                </c:pt>
                <c:pt idx="1">
                  <c:v>Q3 2024</c:v>
                </c:pt>
                <c:pt idx="2">
                  <c:v>Q2 2024</c:v>
                </c:pt>
                <c:pt idx="3">
                  <c:v>Q1 2024</c:v>
                </c:pt>
                <c:pt idx="4">
                  <c:v>0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316000.0</c:v>
                </c:pt>
                <c:pt idx="1">
                  <c:v>284000.0</c:v>
                </c:pt>
                <c:pt idx="2">
                  <c:v>270000.0</c:v>
                </c:pt>
                <c:pt idx="3">
                  <c:v>240000.0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Expenses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Q4 2024</c:v>
                </c:pt>
                <c:pt idx="1">
                  <c:v>Q3 2024</c:v>
                </c:pt>
                <c:pt idx="2">
                  <c:v>Q2 2024</c:v>
                </c:pt>
                <c:pt idx="3">
                  <c:v>Q1 2024</c:v>
                </c:pt>
                <c:pt idx="4">
                  <c:v>0</c:v>
                </c:pt>
                <c:pt idx="5">
                  <c:v>Other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1264000.0</c:v>
                </c:pt>
                <c:pt idx="1">
                  <c:v>1136000.0</c:v>
                </c:pt>
                <c:pt idx="2">
                  <c:v>1080000.0</c:v>
                </c:pt>
                <c:pt idx="3">
                  <c:v>960000.0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Allocation %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Q4 2024</c:v>
                </c:pt>
                <c:pt idx="1">
                  <c:v>Q3 2024</c:v>
                </c:pt>
                <c:pt idx="2">
                  <c:v>Q2 2024</c:v>
                </c:pt>
                <c:pt idx="3">
                  <c:v>Q1 2024</c:v>
                </c:pt>
                <c:pt idx="4">
                  <c:v>0</c:v>
                </c:pt>
                <c:pt idx="5">
                  <c:v>Other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45.0</c:v>
                </c:pt>
                <c:pt idx="5">
                  <c:v>55.0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3000" b="1">
                <a:solidFill>
                  <a:srgbClr val="004F9E"/>
                </a:solidFill>
                <a:latin typeface="Segoe UI"/>
              </a:defRPr>
            </a:pPr>
            <a:r>
              <a:t>Data Insights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dLbls>
            <c:numFmt formatCode="0.0%" sourceLinked="0"/>
            <c:txPr>
              <a:bodyPr/>
              <a:lstStyle/>
              <a:p>
                <a:pPr>
                  <a:defRPr sz="1000" b="1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Stocks</c:v>
                </c:pt>
                <c:pt idx="5">
                  <c:v>Bonds</c:v>
                </c:pt>
                <c:pt idx="6">
                  <c:v>Real Estate</c:v>
                </c:pt>
                <c:pt idx="7">
                  <c:v>Commodities</c:v>
                </c:pt>
                <c:pt idx="8">
                  <c:v>Cash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1200000.0</c:v>
                </c:pt>
                <c:pt idx="1">
                  <c:v>1350000.0</c:v>
                </c:pt>
                <c:pt idx="2">
                  <c:v>1420000.0</c:v>
                </c:pt>
                <c:pt idx="3">
                  <c:v>1580000.0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3000" b="1">
                <a:solidFill>
                  <a:srgbClr val="004F9E"/>
                </a:solidFill>
                <a:latin typeface="Segoe UI"/>
              </a:defRPr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dPt>
            <c:idx val="0"/>
            <c:spPr>
              <a:solidFill>
                <a:srgbClr val="16A085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16A085"/>
              </a:solidFill>
            </c:spPr>
          </c:dPt>
          <c:dPt>
            <c:idx val="3"/>
            <c:spPr>
              <a:solidFill>
                <a:srgbClr val="16A085"/>
              </a:solidFill>
            </c:spPr>
          </c:dPt>
          <c:cat>
            <c:strRef>
              <c:f>Sheet1!$A$2:$A$5</c:f>
              <c:strCache>
                <c:ptCount val="4"/>
                <c:pt idx="0">
                  <c:v>Q4 2024</c:v>
                </c:pt>
                <c:pt idx="1">
                  <c:v>Q3 2024</c:v>
                </c:pt>
                <c:pt idx="2">
                  <c:v>Q2 2024</c:v>
                </c:pt>
                <c:pt idx="3">
                  <c:v>Q1 2024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1580000.0</c:v>
                </c:pt>
                <c:pt idx="1">
                  <c:v>1420000.0</c:v>
                </c:pt>
                <c:pt idx="2">
                  <c:v>1350000.0</c:v>
                </c:pt>
                <c:pt idx="3">
                  <c:v>1200000.0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3000" b="1">
                <a:solidFill>
                  <a:srgbClr val="004F9E"/>
                </a:solidFill>
                <a:latin typeface="Segoe UI"/>
              </a:defRPr>
            </a:pPr>
            <a:r>
              <a:t>Rankings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Other</c:v>
                </c:pt>
                <c:pt idx="1">
                  <c:v>0</c:v>
                </c:pt>
                <c:pt idx="2">
                  <c:v>Q1 2024</c:v>
                </c:pt>
                <c:pt idx="3">
                  <c:v>Q2 2024</c:v>
                </c:pt>
                <c:pt idx="4">
                  <c:v>Q3 2024</c:v>
                </c:pt>
                <c:pt idx="5">
                  <c:v>Q4 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1200000.0</c:v>
                </c:pt>
                <c:pt idx="3">
                  <c:v>1350000.0</c:v>
                </c:pt>
                <c:pt idx="4">
                  <c:v>1420000.0</c:v>
                </c:pt>
                <c:pt idx="5">
                  <c:v>1580000.0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Other</c:v>
                </c:pt>
                <c:pt idx="1">
                  <c:v>0</c:v>
                </c:pt>
                <c:pt idx="2">
                  <c:v>Q1 2024</c:v>
                </c:pt>
                <c:pt idx="3">
                  <c:v>Q2 2024</c:v>
                </c:pt>
                <c:pt idx="4">
                  <c:v>Q3 2024</c:v>
                </c:pt>
                <c:pt idx="5">
                  <c:v>Q4 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240000.0</c:v>
                </c:pt>
                <c:pt idx="3">
                  <c:v>270000.0</c:v>
                </c:pt>
                <c:pt idx="4">
                  <c:v>284000.0</c:v>
                </c:pt>
                <c:pt idx="5">
                  <c:v>316000.0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Expenses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Other</c:v>
                </c:pt>
                <c:pt idx="1">
                  <c:v>0</c:v>
                </c:pt>
                <c:pt idx="2">
                  <c:v>Q1 2024</c:v>
                </c:pt>
                <c:pt idx="3">
                  <c:v>Q2 2024</c:v>
                </c:pt>
                <c:pt idx="4">
                  <c:v>Q3 2024</c:v>
                </c:pt>
                <c:pt idx="5">
                  <c:v>Q4 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960000.0</c:v>
                </c:pt>
                <c:pt idx="3">
                  <c:v>1080000.0</c:v>
                </c:pt>
                <c:pt idx="4">
                  <c:v>1136000.0</c:v>
                </c:pt>
                <c:pt idx="5">
                  <c:v>1264000.0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Allocation %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1000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Other</c:v>
                </c:pt>
                <c:pt idx="1">
                  <c:v>0</c:v>
                </c:pt>
                <c:pt idx="2">
                  <c:v>Q1 2024</c:v>
                </c:pt>
                <c:pt idx="3">
                  <c:v>Q2 2024</c:v>
                </c:pt>
                <c:pt idx="4">
                  <c:v>Q3 2024</c:v>
                </c:pt>
                <c:pt idx="5">
                  <c:v>Q4 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55.0</c:v>
                </c:pt>
                <c:pt idx="1">
                  <c:v>45.0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3000" b="1">
                <a:solidFill>
                  <a:srgbClr val="004F9E"/>
                </a:solidFill>
                <a:latin typeface="Segoe UI"/>
              </a:defRPr>
            </a:pPr>
            <a:r>
              <a:t>Trend Analysis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dLbls>
            <c:numFmt formatCode="0.0%" sourceLinked="0"/>
            <c:txPr>
              <a:bodyPr/>
              <a:lstStyle/>
              <a:p>
                <a:pPr>
                  <a:defRPr sz="1000" b="1"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Stocks</c:v>
                </c:pt>
                <c:pt idx="5">
                  <c:v>Bonds</c:v>
                </c:pt>
                <c:pt idx="6">
                  <c:v>Real Estate</c:v>
                </c:pt>
                <c:pt idx="7">
                  <c:v>Commodities</c:v>
                </c:pt>
                <c:pt idx="8">
                  <c:v>Cash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1200000.0</c:v>
                </c:pt>
                <c:pt idx="1">
                  <c:v>1350000.0</c:v>
                </c:pt>
                <c:pt idx="2">
                  <c:v>1420000.0</c:v>
                </c:pt>
                <c:pt idx="3">
                  <c:v>1580000.0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1097280" cy="10972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C62828"/>
                </a:solidFill>
                <a:latin typeface="Segoe UI"/>
              </a:defRPr>
            </a:pPr>
            <a:r>
              <a:t>FD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Backend Test - Advanced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E53935"/>
                </a:solidFill>
                <a:latin typeface="Segoe UI"/>
              </a:defRPr>
            </a:pPr>
            <a:r>
              <a:t>Comprehensive Business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F8C8D"/>
                </a:solidFill>
                <a:latin typeface="Segoe UI"/>
              </a:defRPr>
            </a:pPr>
            <a:r>
              <a:t>November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943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E53935"/>
                </a:solidFill>
                <a:latin typeface="Segoe UI"/>
              </a:defRPr>
            </a:pPr>
            <a:r>
              <a:t>Powered by FinDeck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5486400"/>
            <a:ext cx="1828800" cy="914400"/>
          </a:xfrm>
          <a:prstGeom prst="roundRect">
            <a:avLst/>
          </a:prstGeom>
          <a:solidFill>
            <a:srgbClr val="E53935">
              <a:lumMod val="50000"/>
              <a:lumOff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  <a:latin typeface="Segoe UI"/>
              </a:defRPr>
            </a:pPr>
            <a:r>
              <a:t>Analysis </a:t>
            </a:r>
            <a:r>
              <a:t>covers </a:t>
            </a:r>
            <a:r>
              <a:t>14 </a:t>
            </a:r>
            <a:r>
              <a:t>data </a:t>
            </a:r>
            <a:r>
              <a:t>points </a:t>
            </a:r>
            <a:r>
              <a:t>across </a:t>
            </a:r>
            <a:r>
              <a:t>9 </a:t>
            </a:r>
            <a:r>
              <a:t>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  <a:latin typeface="Segoe UI"/>
              </a:defRPr>
            </a:pPr>
            <a:r>
              <a:t>Revenue: </a:t>
            </a:r>
            <a:r>
              <a:t>Total </a:t>
            </a:r>
            <a:r>
              <a:t>of </a:t>
            </a:r>
            <a:r>
              <a:t>$5.5M, </a:t>
            </a:r>
            <a:r>
              <a:t>averaging </a:t>
            </a:r>
            <a:r>
              <a:t>$1.4M </a:t>
            </a:r>
            <a:r>
              <a:t>per </a:t>
            </a:r>
            <a:r>
              <a:t>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  <a:latin typeface="Segoe UI"/>
              </a:defRPr>
            </a:pPr>
            <a:r>
              <a:rPr b="1">
                <a:solidFill>
                  <a:srgbClr val="2E7D32"/>
                </a:solidFill>
              </a:rPr>
              <a:t>Profit: </a:t>
            </a:r>
            <a:r>
              <a:t>Total </a:t>
            </a:r>
            <a:r>
              <a:t>of </a:t>
            </a:r>
            <a:r>
              <a:t>$1.1M, </a:t>
            </a:r>
            <a:r>
              <a:t>averaging </a:t>
            </a:r>
            <a:r>
              <a:t>$277.5K </a:t>
            </a:r>
            <a:r>
              <a:t>per </a:t>
            </a:r>
            <a:r>
              <a:t>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  <a:latin typeface="Segoe UI"/>
              </a:defRPr>
            </a:pPr>
            <a:r>
              <a:t>Expenses: </a:t>
            </a:r>
            <a:r>
              <a:t>Total </a:t>
            </a:r>
            <a:r>
              <a:t>of </a:t>
            </a:r>
            <a:r>
              <a:t>$4.4M, </a:t>
            </a:r>
            <a:r>
              <a:t>averaging </a:t>
            </a:r>
            <a:r>
              <a:t>$1.1M </a:t>
            </a:r>
            <a:r>
              <a:t>per </a:t>
            </a:r>
            <a:r>
              <a:t>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  <a:latin typeface="Segoe UI"/>
              </a:defRPr>
            </a:pPr>
            <a:r>
              <a:t>4 </a:t>
            </a:r>
            <a:r>
              <a:t>unique </a:t>
            </a:r>
            <a:r>
              <a:t>categories </a:t>
            </a:r>
            <a:r>
              <a:t>identified </a:t>
            </a:r>
            <a:r>
              <a:t>in </a:t>
            </a:r>
            <a:r>
              <a:t>Quarter </a:t>
            </a:r>
            <a:r>
              <a:t>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62828"/>
                </a:solidFill>
                <a:latin typeface="Segoe UI"/>
              </a:defRPr>
            </a:pPr>
            <a:r>
              <a:t>🤖 AI-Powered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>
                <a:latin typeface="Segoe UI"/>
              </a:defRPr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Analysis covers 14 data points across 9 dimensions</a:t>
            </a:r>
          </a:p>
          <a:p>
            <a:pPr>
              <a:spcBef>
                <a:spcPts val="1200"/>
              </a:spcBef>
              <a:defRPr>
                <a:latin typeface="Segoe UI"/>
              </a:defRPr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Revenue: Total of $5.5M, averaging $1.4M per record</a:t>
            </a:r>
          </a:p>
          <a:p>
            <a:pPr>
              <a:spcBef>
                <a:spcPts val="1200"/>
              </a:spcBef>
              <a:defRPr>
                <a:latin typeface="Segoe UI"/>
              </a:defRPr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Profit: Total of $1.1M, averaging $277.5K per record</a:t>
            </a:r>
          </a:p>
          <a:p>
            <a:pPr>
              <a:spcBef>
                <a:spcPts val="1200"/>
              </a:spcBef>
              <a:defRPr>
                <a:latin typeface="Segoe UI"/>
              </a:defRPr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Expenses: Total of $4.4M, averaging $1.1M per record</a:t>
            </a:r>
          </a:p>
          <a:p>
            <a:pPr>
              <a:spcBef>
                <a:spcPts val="1200"/>
              </a:spcBef>
              <a:defRPr>
                <a:latin typeface="Segoe UI"/>
              </a:defRPr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4 unique categories identified in Quarter dimension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486400"/>
            <a:ext cx="8229600" cy="91440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>
                <a:latin typeface="Segoe UI"/>
              </a:defRPr>
            </a:pPr>
            <a:r>
              <a:rPr sz="1400" b="1">
                <a:solidFill>
                  <a:srgbClr val="C62828"/>
                </a:solidFill>
              </a:rPr>
              <a:t>📝 Analyst Notes: </a:t>
            </a:r>
            <a:r>
              <a:rPr sz="1200">
                <a:solidFill>
                  <a:srgbClr val="34495E"/>
                </a:solidFill>
              </a:rPr>
              <a:t>Data-driven insights generated by FinDeck AI analyzing key trends and patterns.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286000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495E"/>
                </a:solidFill>
                <a:latin typeface="Segoe UI"/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92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62828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F8C8D"/>
                </a:solidFill>
                <a:latin typeface="Segoe UI"/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188720"/>
            <a:ext cx="2286000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3108960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495E"/>
                </a:solidFill>
                <a:latin typeface="Segoe UI"/>
              </a:defRPr>
            </a:pPr>
            <a:r>
              <a:t>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828800"/>
            <a:ext cx="192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62828"/>
                </a:solidFill>
                <a:latin typeface="Segoe UI"/>
              </a:defRPr>
            </a:pPr>
            <a:r>
              <a:t>$5.5M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7744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F8C8D"/>
                </a:solidFill>
                <a:latin typeface="Segoe UI"/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286000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495E"/>
                </a:solidFill>
                <a:latin typeface="Segoe UI"/>
              </a:defRPr>
            </a:pPr>
            <a:r>
              <a:t>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192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62828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F8C8D"/>
                </a:solidFill>
                <a:latin typeface="Segoe UI"/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017520"/>
            <a:ext cx="2286000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108960" y="32004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495E"/>
                </a:solidFill>
                <a:latin typeface="Segoe UI"/>
              </a:defRPr>
            </a:pPr>
            <a:r>
              <a:t>Expenses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657600"/>
            <a:ext cx="192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62828"/>
                </a:solidFill>
                <a:latin typeface="Segoe UI"/>
              </a:defRPr>
            </a:pPr>
            <a:r>
              <a:t>$4.4M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20624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F8C8D"/>
                </a:solidFill>
                <a:latin typeface="Segoe UI"/>
              </a:defRPr>
            </a:pPr>
            <a:r>
              <a:t>→ Total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486400" y="1188720"/>
          <a:ext cx="3383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/>
              </a:defRPr>
            </a:pP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Revenue totals $5.5M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Profit shows $31.6K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Most common category: Q1 2024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62828"/>
                </a:solidFill>
                <a:latin typeface="Segoe UI"/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Q4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28.5%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Q3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25.6%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Q2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24.3%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Q1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21.6%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EFF1"/>
          </a:solidFill>
          <a:ln w="2540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62828"/>
                </a:solidFill>
                <a:latin typeface="Segoe UI"/>
              </a:defRPr>
            </a:pPr>
            <a:r>
              <a:t>Strong Revenue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  <a:latin typeface="Segoe UI"/>
              </a:defRPr>
            </a:pPr>
            <a:r>
              <a:t>Total Revenue of $5.5M with average of $1.4M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EFF1"/>
          </a:solidFill>
          <a:ln w="2540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62828"/>
                </a:solidFill>
                <a:latin typeface="Segoe UI"/>
              </a:defRPr>
            </a:pPr>
            <a:r>
              <a:t>Profit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  <a:latin typeface="Segoe UI"/>
              </a:defRPr>
            </a:pPr>
            <a:r>
              <a:t>Standard deviation of $31.6K indicates low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EFF1"/>
          </a:solidFill>
          <a:ln w="2540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62828"/>
                </a:solidFill>
                <a:latin typeface="Segoe UI"/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  <a:latin typeface="Segoe UI"/>
              </a:defRPr>
            </a:pPr>
            <a:r>
              <a:t>Analysis spans 4 distinct categories in Quarter, providing comprehensive market coverage and insights.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Top Performers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0" y="1188720"/>
          <a:ext cx="3840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62828"/>
                </a:solidFill>
                <a:latin typeface="Segoe UI"/>
              </a:defRPr>
            </a:pPr>
            <a:r>
              <a:t>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62828"/>
                </a:solidFill>
                <a:latin typeface="Segoe UI"/>
              </a:defRPr>
            </a:pPr>
            <a:r>
              <a:t>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1887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62828"/>
                </a:solidFill>
                <a:latin typeface="Segoe UI"/>
              </a:defRPr>
            </a:pPr>
            <a:r>
              <a:t>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457200" cy="2926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Q4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45920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$1.6M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93392"/>
            <a:ext cx="457200" cy="2926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57200" y="1993392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993392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Q3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993392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$1.4M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40864"/>
            <a:ext cx="457200" cy="2926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57200" y="2340864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40864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Q2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340864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$1.4M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88336"/>
            <a:ext cx="457200" cy="292608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457200" y="2688336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688336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Q1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688336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$1.2M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35808"/>
            <a:ext cx="457200" cy="292608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3035808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035808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nan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0358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$nan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83279"/>
            <a:ext cx="457200" cy="292608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57200" y="3383279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383279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nan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383279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$nan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30752"/>
            <a:ext cx="457200" cy="292608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457200" y="3730752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730752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nan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730752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$nan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078224"/>
            <a:ext cx="457200" cy="292608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457200" y="4078224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latin typeface="Segoe U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4078224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Segoe UI"/>
              </a:defRPr>
            </a:pPr>
            <a:r>
              <a:t>nan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78224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latin typeface="Segoe UI"/>
              </a:defRPr>
            </a:pPr>
            <a:r>
              <a:t>$nan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62828"/>
                </a:solidFill>
                <a:latin typeface="Segoe UI"/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  <a:latin typeface="Segoe UI"/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/>
              </a:defRPr>
            </a:pPr>
          </a:p>
          <a:p>
            <a:pPr algn="ctr">
              <a:spcAft>
                <a:spcPts val="1200"/>
              </a:spcAft>
              <a:defRPr sz="1800">
                <a:solidFill>
                  <a:srgbClr val="E53935"/>
                </a:solidFill>
                <a:latin typeface="Segoe UI"/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E53935"/>
                </a:solidFill>
                <a:latin typeface="Segoe UI"/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E53935"/>
                </a:solidFill>
                <a:latin typeface="Segoe UI"/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EFF1"/>
                </a:solidFill>
                <a:latin typeface="Segoe UI"/>
              </a:defRPr>
            </a:pPr>
            <a:r>
              <a:t>Generated by FinDeck | November 10,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