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Performance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Market_Cap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004F9E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Apple Inc.</c:v>
                </c:pt>
                <c:pt idx="1">
                  <c:v>Microsoft</c:v>
                </c:pt>
                <c:pt idx="2">
                  <c:v>Alphabet</c:v>
                </c:pt>
                <c:pt idx="3">
                  <c:v>Amazon</c:v>
                </c:pt>
                <c:pt idx="4">
                  <c:v>NVIDIA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2800000000000.0</c:v>
                </c:pt>
                <c:pt idx="1">
                  <c:v>2600000000000.0</c:v>
                </c:pt>
                <c:pt idx="2">
                  <c:v>1700000000000.0</c:v>
                </c:pt>
                <c:pt idx="3">
                  <c:v>1400000000000.0</c:v>
                </c:pt>
                <c:pt idx="4">
                  <c:v>1100000000000.0</c:v>
                </c:pt>
                <c:pt idx="5">
                  <c:v>4330000000000.0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Enterprise_Value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16A085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Apple Inc.</c:v>
                </c:pt>
                <c:pt idx="1">
                  <c:v>Microsoft</c:v>
                </c:pt>
                <c:pt idx="2">
                  <c:v>Alphabet</c:v>
                </c:pt>
                <c:pt idx="3">
                  <c:v>Amazon</c:v>
                </c:pt>
                <c:pt idx="4">
                  <c:v>NVIDIA</c:v>
                </c:pt>
                <c:pt idx="5">
                  <c:v>Other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2750000000000.0</c:v>
                </c:pt>
                <c:pt idx="1">
                  <c:v>2550000000000.0</c:v>
                </c:pt>
                <c:pt idx="2">
                  <c:v>1650000000000.0</c:v>
                </c:pt>
                <c:pt idx="3">
                  <c:v>1450000000000.0</c:v>
                </c:pt>
                <c:pt idx="4">
                  <c:v>1050000000000.0</c:v>
                </c:pt>
                <c:pt idx="5">
                  <c:v>4220000000000.0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E15759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Apple Inc.</c:v>
                </c:pt>
                <c:pt idx="1">
                  <c:v>Microsoft</c:v>
                </c:pt>
                <c:pt idx="2">
                  <c:v>Alphabet</c:v>
                </c:pt>
                <c:pt idx="3">
                  <c:v>Amazon</c:v>
                </c:pt>
                <c:pt idx="4">
                  <c:v>NVIDIA</c:v>
                </c:pt>
                <c:pt idx="5">
                  <c:v>Other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288.4495059682114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High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6C757D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Apple Inc.</c:v>
                </c:pt>
                <c:pt idx="1">
                  <c:v>Microsoft</c:v>
                </c:pt>
                <c:pt idx="2">
                  <c:v>Alphabet</c:v>
                </c:pt>
                <c:pt idx="3">
                  <c:v>Amazon</c:v>
                </c:pt>
                <c:pt idx="4">
                  <c:v>NVIDIA</c:v>
                </c:pt>
                <c:pt idx="5">
                  <c:v>Other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313.42536378096383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Data Insights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004F9E"/>
              </a:solidFill>
            </a:ln>
          </c:spP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139.051170604657</c:v>
                </c:pt>
                <c:pt idx="14">
                  <c:v>149.3983353635544</c:v>
                </c:pt>
                <c:pt idx="15">
                  <c:v>150.7117833296328</c:v>
                </c:pt>
                <c:pt idx="16">
                  <c:v>151.8772971908298</c:v>
                </c:pt>
                <c:pt idx="17">
                  <c:v>145.1127902302615</c:v>
                </c:pt>
                <c:pt idx="18">
                  <c:v>151.7608400821849</c:v>
                </c:pt>
                <c:pt idx="19">
                  <c:v>151.969186971927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16A085"/>
              </a:solidFill>
            </a:ln>
          </c:spP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152.6215487350833</c:v>
                </c:pt>
                <c:pt idx="14">
                  <c:v>160.8038150458805</c:v>
                </c:pt>
                <c:pt idx="15">
                  <c:v>157.9810307585893</c:v>
                </c:pt>
                <c:pt idx="16">
                  <c:v>152.6484638943014</c:v>
                </c:pt>
                <c:pt idx="17">
                  <c:v>158.9087205796694</c:v>
                </c:pt>
                <c:pt idx="18">
                  <c:v>157.7917406682476</c:v>
                </c:pt>
                <c:pt idx="19">
                  <c:v>145.0336026369045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E15759"/>
              </a:solidFill>
            </a:ln>
          </c:spP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146.7026918686806</c:v>
                </c:pt>
                <c:pt idx="14">
                  <c:v>149.6174724968358</c:v>
                </c:pt>
                <c:pt idx="15">
                  <c:v>143.7454807387641</c:v>
                </c:pt>
                <c:pt idx="16">
                  <c:v>149.8513566685776</c:v>
                </c:pt>
                <c:pt idx="17">
                  <c:v>143.6543367963613</c:v>
                </c:pt>
                <c:pt idx="18">
                  <c:v>134.5712366151643</c:v>
                </c:pt>
                <c:pt idx="19">
                  <c:v>147.0135088362497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6C757D"/>
              </a:solidFill>
            </a:ln>
          </c:spP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151.3366212391544</c:v>
                </c:pt>
                <c:pt idx="14">
                  <c:v>152.872666172694</c:v>
                </c:pt>
                <c:pt idx="15">
                  <c:v>148.4103965866699</c:v>
                </c:pt>
                <c:pt idx="16">
                  <c:v>157.0647810267221</c:v>
                </c:pt>
                <c:pt idx="17">
                  <c:v>153.9856193323063</c:v>
                </c:pt>
                <c:pt idx="18">
                  <c:v>143.1065843822613</c:v>
                </c:pt>
                <c:pt idx="19">
                  <c:v>155.347783967051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C757D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Sector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Market_Cap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004F9E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Apple Inc.</c:v>
                </c:pt>
                <c:pt idx="1">
                  <c:v>Microsoft</c:v>
                </c:pt>
                <c:pt idx="2">
                  <c:v>Alphabet</c:v>
                </c:pt>
                <c:pt idx="3">
                  <c:v>Amazon</c:v>
                </c:pt>
                <c:pt idx="4">
                  <c:v>NVIDIA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2800000000000.0</c:v>
                </c:pt>
                <c:pt idx="1">
                  <c:v>2600000000000.0</c:v>
                </c:pt>
                <c:pt idx="2">
                  <c:v>1700000000000.0</c:v>
                </c:pt>
                <c:pt idx="3">
                  <c:v>1400000000000.0</c:v>
                </c:pt>
                <c:pt idx="4">
                  <c:v>1100000000000.0</c:v>
                </c:pt>
                <c:pt idx="5">
                  <c:v>2250000000000.0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Rankings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Market_Cap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004F9E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NVIDIA</c:v>
                </c:pt>
                <c:pt idx="1">
                  <c:v>Amazon</c:v>
                </c:pt>
                <c:pt idx="2">
                  <c:v>Alphabet</c:v>
                </c:pt>
                <c:pt idx="3">
                  <c:v>Microsoft</c:v>
                </c:pt>
                <c:pt idx="4">
                  <c:v>Apple Inc.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1100000000000.0</c:v>
                </c:pt>
                <c:pt idx="1">
                  <c:v>1400000000000.0</c:v>
                </c:pt>
                <c:pt idx="2">
                  <c:v>1700000000000.0</c:v>
                </c:pt>
                <c:pt idx="3">
                  <c:v>2600000000000.0</c:v>
                </c:pt>
                <c:pt idx="4">
                  <c:v>2800000000000.0</c:v>
                </c:pt>
                <c:pt idx="5">
                  <c:v>3270000000000.0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Enterprise_Value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16A085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NVIDIA</c:v>
                </c:pt>
                <c:pt idx="1">
                  <c:v>Amazon</c:v>
                </c:pt>
                <c:pt idx="2">
                  <c:v>Alphabet</c:v>
                </c:pt>
                <c:pt idx="3">
                  <c:v>Microsoft</c:v>
                </c:pt>
                <c:pt idx="4">
                  <c:v>Apple Inc.</c:v>
                </c:pt>
                <c:pt idx="5">
                  <c:v>Other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1050000000000.0</c:v>
                </c:pt>
                <c:pt idx="1">
                  <c:v>1450000000000.0</c:v>
                </c:pt>
                <c:pt idx="2">
                  <c:v>1650000000000.0</c:v>
                </c:pt>
                <c:pt idx="3">
                  <c:v>2550000000000.0</c:v>
                </c:pt>
                <c:pt idx="4">
                  <c:v>2750000000000.0</c:v>
                </c:pt>
                <c:pt idx="5">
                  <c:v>3190000000000.0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Trend Analysis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004F9E"/>
              </a:solidFill>
            </a:ln>
          </c:spPr>
          <c:cat>
            <c:strRef>
              <c:f>Sheet1!$A$2:$A$31</c:f>
              <c:strCach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  <c:pt idx="20">
                  <c:v>2024-01-08 00:00:00</c:v>
                </c:pt>
                <c:pt idx="21">
                  <c:v>2024-01-09 00:00:00</c:v>
                </c:pt>
                <c:pt idx="22">
                  <c:v>2024-01-10 00:00:00</c:v>
                </c:pt>
                <c:pt idx="23">
                  <c:v>2024-01-11 00:00:00</c:v>
                </c:pt>
                <c:pt idx="24">
                  <c:v>2024-01-12 00:00:00</c:v>
                </c:pt>
                <c:pt idx="25">
                  <c:v>2024-01-13 00:00:00</c:v>
                </c:pt>
                <c:pt idx="26">
                  <c:v>2024-01-14 00:00:00</c:v>
                </c:pt>
                <c:pt idx="27">
                  <c:v>2024-01-15 00:00:00</c:v>
                </c:pt>
                <c:pt idx="28">
                  <c:v>2024-01-16 00:00:00</c:v>
                </c:pt>
                <c:pt idx="29">
                  <c:v>2024-01-17 00:00:00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139.051170604657</c:v>
                </c:pt>
                <c:pt idx="14">
                  <c:v>149.3983353635544</c:v>
                </c:pt>
                <c:pt idx="15">
                  <c:v>150.7117833296328</c:v>
                </c:pt>
                <c:pt idx="16">
                  <c:v>151.8772971908298</c:v>
                </c:pt>
                <c:pt idx="17">
                  <c:v>145.1127902302615</c:v>
                </c:pt>
                <c:pt idx="18">
                  <c:v>151.7608400821849</c:v>
                </c:pt>
                <c:pt idx="19">
                  <c:v>151.969186971927</c:v>
                </c:pt>
                <c:pt idx="20">
                  <c:v>148.9798701431888</c:v>
                </c:pt>
                <c:pt idx="21">
                  <c:v>148.6819856520196</c:v>
                </c:pt>
                <c:pt idx="22">
                  <c:v>156.497621995103</c:v>
                </c:pt>
                <c:pt idx="23">
                  <c:v>145.7595048668337</c:v>
                </c:pt>
                <c:pt idx="24">
                  <c:v>149.4509562250429</c:v>
                </c:pt>
                <c:pt idx="25">
                  <c:v>152.4538312720575</c:v>
                </c:pt>
                <c:pt idx="26">
                  <c:v>149.0261351576421</c:v>
                </c:pt>
                <c:pt idx="27">
                  <c:v>148.4419350588826</c:v>
                </c:pt>
                <c:pt idx="28">
                  <c:v>148.7961434046148</c:v>
                </c:pt>
                <c:pt idx="29">
                  <c:v>149.870556155722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16A085"/>
              </a:solidFill>
            </a:ln>
          </c:spPr>
          <c:cat>
            <c:strRef>
              <c:f>Sheet1!$A$2:$A$31</c:f>
              <c:strCach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  <c:pt idx="20">
                  <c:v>2024-01-08 00:00:00</c:v>
                </c:pt>
                <c:pt idx="21">
                  <c:v>2024-01-09 00:00:00</c:v>
                </c:pt>
                <c:pt idx="22">
                  <c:v>2024-01-10 00:00:00</c:v>
                </c:pt>
                <c:pt idx="23">
                  <c:v>2024-01-11 00:00:00</c:v>
                </c:pt>
                <c:pt idx="24">
                  <c:v>2024-01-12 00:00:00</c:v>
                </c:pt>
                <c:pt idx="25">
                  <c:v>2024-01-13 00:00:00</c:v>
                </c:pt>
                <c:pt idx="26">
                  <c:v>2024-01-14 00:00:00</c:v>
                </c:pt>
                <c:pt idx="27">
                  <c:v>2024-01-15 00:00:00</c:v>
                </c:pt>
                <c:pt idx="28">
                  <c:v>2024-01-16 00:00:00</c:v>
                </c:pt>
                <c:pt idx="29">
                  <c:v>2024-01-17 00:00:00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152.6215487350833</c:v>
                </c:pt>
                <c:pt idx="14">
                  <c:v>160.8038150458805</c:v>
                </c:pt>
                <c:pt idx="15">
                  <c:v>157.9810307585893</c:v>
                </c:pt>
                <c:pt idx="16">
                  <c:v>152.6484638943014</c:v>
                </c:pt>
                <c:pt idx="17">
                  <c:v>158.9087205796694</c:v>
                </c:pt>
                <c:pt idx="18">
                  <c:v>157.7917406682476</c:v>
                </c:pt>
                <c:pt idx="19">
                  <c:v>145.0336026369045</c:v>
                </c:pt>
                <c:pt idx="20">
                  <c:v>156.3251052601916</c:v>
                </c:pt>
                <c:pt idx="21">
                  <c:v>153.0822347300274</c:v>
                </c:pt>
                <c:pt idx="22">
                  <c:v>154.8533456902524</c:v>
                </c:pt>
                <c:pt idx="23">
                  <c:v>156.9913191824012</c:v>
                </c:pt>
                <c:pt idx="24">
                  <c:v>149.6666510909928</c:v>
                </c:pt>
                <c:pt idx="25">
                  <c:v>154.0190770555989</c:v>
                </c:pt>
                <c:pt idx="26">
                  <c:v>156.2034693935931</c:v>
                </c:pt>
                <c:pt idx="27">
                  <c:v>146.6407764163484</c:v>
                </c:pt>
                <c:pt idx="28">
                  <c:v>153.7637439424184</c:v>
                </c:pt>
                <c:pt idx="29">
                  <c:v>156.5757586067215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E15759"/>
              </a:solidFill>
            </a:ln>
          </c:spPr>
          <c:cat>
            <c:strRef>
              <c:f>Sheet1!$A$2:$A$31</c:f>
              <c:strCach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  <c:pt idx="20">
                  <c:v>2024-01-08 00:00:00</c:v>
                </c:pt>
                <c:pt idx="21">
                  <c:v>2024-01-09 00:00:00</c:v>
                </c:pt>
                <c:pt idx="22">
                  <c:v>2024-01-10 00:00:00</c:v>
                </c:pt>
                <c:pt idx="23">
                  <c:v>2024-01-11 00:00:00</c:v>
                </c:pt>
                <c:pt idx="24">
                  <c:v>2024-01-12 00:00:00</c:v>
                </c:pt>
                <c:pt idx="25">
                  <c:v>2024-01-13 00:00:00</c:v>
                </c:pt>
                <c:pt idx="26">
                  <c:v>2024-01-14 00:00:00</c:v>
                </c:pt>
                <c:pt idx="27">
                  <c:v>2024-01-15 00:00:00</c:v>
                </c:pt>
                <c:pt idx="28">
                  <c:v>2024-01-16 00:00:00</c:v>
                </c:pt>
                <c:pt idx="29">
                  <c:v>2024-01-17 00:00:00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146.7026918686806</c:v>
                </c:pt>
                <c:pt idx="14">
                  <c:v>149.6174724968358</c:v>
                </c:pt>
                <c:pt idx="15">
                  <c:v>143.7454807387641</c:v>
                </c:pt>
                <c:pt idx="16">
                  <c:v>149.8513566685776</c:v>
                </c:pt>
                <c:pt idx="17">
                  <c:v>143.6543367963613</c:v>
                </c:pt>
                <c:pt idx="18">
                  <c:v>134.5712366151643</c:v>
                </c:pt>
                <c:pt idx="19">
                  <c:v>147.0135088362497</c:v>
                </c:pt>
                <c:pt idx="20">
                  <c:v>147.6581770818162</c:v>
                </c:pt>
                <c:pt idx="21">
                  <c:v>148.5340594764983</c:v>
                </c:pt>
                <c:pt idx="22">
                  <c:v>154.6812850404168</c:v>
                </c:pt>
                <c:pt idx="23">
                  <c:v>144.1297058504649</c:v>
                </c:pt>
                <c:pt idx="24">
                  <c:v>153.8190102267262</c:v>
                </c:pt>
                <c:pt idx="25">
                  <c:v>150.0802964507735</c:v>
                </c:pt>
                <c:pt idx="26">
                  <c:v>148.7083243809137</c:v>
                </c:pt>
                <c:pt idx="27">
                  <c:v>137.110419969301</c:v>
                </c:pt>
                <c:pt idx="28">
                  <c:v>141.870255155735</c:v>
                </c:pt>
                <c:pt idx="29">
                  <c:v>140.7483982276065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scaled="0" ang="16200000"/>
            </a:gradFill>
            <a:ln w="25400">
              <a:solidFill>
                <a:srgbClr val="6C757D"/>
              </a:solidFill>
            </a:ln>
          </c:spPr>
          <c:cat>
            <c:strRef>
              <c:f>Sheet1!$A$2:$A$31</c:f>
              <c:strCach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2024-01-01 00:00:00</c:v>
                </c:pt>
                <c:pt idx="14">
                  <c:v>2024-01-02 00:00:00</c:v>
                </c:pt>
                <c:pt idx="15">
                  <c:v>2024-01-03 00:00:00</c:v>
                </c:pt>
                <c:pt idx="16">
                  <c:v>2024-01-04 00:00:00</c:v>
                </c:pt>
                <c:pt idx="17">
                  <c:v>2024-01-05 00:00:00</c:v>
                </c:pt>
                <c:pt idx="18">
                  <c:v>2024-01-06 00:00:00</c:v>
                </c:pt>
                <c:pt idx="19">
                  <c:v>2024-01-07 00:00:00</c:v>
                </c:pt>
                <c:pt idx="20">
                  <c:v>2024-01-08 00:00:00</c:v>
                </c:pt>
                <c:pt idx="21">
                  <c:v>2024-01-09 00:00:00</c:v>
                </c:pt>
                <c:pt idx="22">
                  <c:v>2024-01-10 00:00:00</c:v>
                </c:pt>
                <c:pt idx="23">
                  <c:v>2024-01-11 00:00:00</c:v>
                </c:pt>
                <c:pt idx="24">
                  <c:v>2024-01-12 00:00:00</c:v>
                </c:pt>
                <c:pt idx="25">
                  <c:v>2024-01-13 00:00:00</c:v>
                </c:pt>
                <c:pt idx="26">
                  <c:v>2024-01-14 00:00:00</c:v>
                </c:pt>
                <c:pt idx="27">
                  <c:v>2024-01-15 00:00:00</c:v>
                </c:pt>
                <c:pt idx="28">
                  <c:v>2024-01-16 00:00:00</c:v>
                </c:pt>
                <c:pt idx="29">
                  <c:v>2024-01-17 00:00:00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151.3366212391544</c:v>
                </c:pt>
                <c:pt idx="14">
                  <c:v>152.872666172694</c:v>
                </c:pt>
                <c:pt idx="15">
                  <c:v>148.4103965866699</c:v>
                </c:pt>
                <c:pt idx="16">
                  <c:v>157.0647810267221</c:v>
                </c:pt>
                <c:pt idx="17">
                  <c:v>153.9856193323063</c:v>
                </c:pt>
                <c:pt idx="18">
                  <c:v>143.1065843822613</c:v>
                </c:pt>
                <c:pt idx="19">
                  <c:v>155.347783967051</c:v>
                </c:pt>
                <c:pt idx="20">
                  <c:v>152.192115947837</c:v>
                </c:pt>
                <c:pt idx="21">
                  <c:v>148.9605308074141</c:v>
                </c:pt>
                <c:pt idx="22">
                  <c:v>155.5680290537642</c:v>
                </c:pt>
                <c:pt idx="23">
                  <c:v>146.4158669419351</c:v>
                </c:pt>
                <c:pt idx="24">
                  <c:v>143.7114862889912</c:v>
                </c:pt>
                <c:pt idx="25">
                  <c:v>140.2092162510498</c:v>
                </c:pt>
                <c:pt idx="26">
                  <c:v>147.3376549690945</c:v>
                </c:pt>
                <c:pt idx="27">
                  <c:v>151.3669660528762</c:v>
                </c:pt>
                <c:pt idx="28">
                  <c:v>152.3705415683271</c:v>
                </c:pt>
                <c:pt idx="29">
                  <c:v>149.8442556290312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C757D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Finance Visual Standards - Test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  <a:latin typeface="Segoe UI"/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E53935"/>
                </a:solidFill>
                <a:latin typeface="Segoe UI"/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E53935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  <a:latin typeface="Segoe UI"/>
              </a:defRPr>
            </a:pPr>
            <a:r>
              <a:t>Analysis </a:t>
            </a:r>
            <a:r>
              <a:t>covers </a:t>
            </a:r>
            <a:r>
              <a:t>59 </a:t>
            </a:r>
            <a:r>
              <a:t>data </a:t>
            </a:r>
            <a:r>
              <a:t>points </a:t>
            </a:r>
            <a:r>
              <a:t>across </a:t>
            </a:r>
            <a:r>
              <a:t>13 </a:t>
            </a:r>
            <a:r>
              <a:t>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  <a:latin typeface="Segoe UI"/>
              </a:defRPr>
            </a:pPr>
            <a:r>
              <a:t>Market_Cap: </a:t>
            </a:r>
            <a:r>
              <a:t>Total </a:t>
            </a:r>
            <a:r>
              <a:t>of </a:t>
            </a:r>
            <a:r>
              <a:t>$13930.0B, </a:t>
            </a:r>
            <a:r>
              <a:t>averaging </a:t>
            </a:r>
            <a:r>
              <a:t>$1071.5B </a:t>
            </a:r>
            <a:r>
              <a:t>per </a:t>
            </a:r>
            <a:r>
              <a:t>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  <a:latin typeface="Segoe UI"/>
              </a:defRPr>
            </a:pPr>
            <a:r>
              <a:t>Enterprise_Value: </a:t>
            </a:r>
            <a:r>
              <a:t>Total </a:t>
            </a:r>
            <a:r>
              <a:t>of </a:t>
            </a:r>
            <a:r>
              <a:t>$13670.0B, </a:t>
            </a:r>
            <a:r>
              <a:t>averaging </a:t>
            </a:r>
            <a:r>
              <a:t>$1051.5B </a:t>
            </a:r>
            <a:r>
              <a:t>per </a:t>
            </a:r>
            <a:r>
              <a:t>record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  <a:latin typeface="Segoe UI"/>
              </a:defRPr>
            </a:pPr>
            <a:r>
              <a:t>Open: </a:t>
            </a:r>
            <a:r>
              <a:t>Total </a:t>
            </a:r>
            <a:r>
              <a:t>of </a:t>
            </a:r>
            <a:r>
              <a:t>$4.5K, </a:t>
            </a:r>
            <a:r>
              <a:t>averaging </a:t>
            </a:r>
            <a:r>
              <a:t>$149.05 </a:t>
            </a:r>
            <a:r>
              <a:t>per </a:t>
            </a:r>
            <a:r>
              <a:t>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  <a:latin typeface="Segoe UI"/>
              </a:defRPr>
            </a:pPr>
            <a:r>
              <a:t>13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Company </a:t>
            </a:r>
            <a:r>
              <a:t>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Analysis covers 59 data points across 13 dimensions</a:t>
            </a:r>
          </a:p>
          <a:p>
            <a:pPr>
              <a:spcBef>
                <a:spcPts val="1200"/>
              </a:spcBef>
              <a:defRPr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Market_Cap: Total of $13930.0B, averaging $1071.5B per record</a:t>
            </a:r>
          </a:p>
          <a:p>
            <a:pPr>
              <a:spcBef>
                <a:spcPts val="1200"/>
              </a:spcBef>
              <a:defRPr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Enterprise_Value: Total of $13670.0B, averaging $1051.5B per record</a:t>
            </a:r>
          </a:p>
          <a:p>
            <a:pPr>
              <a:spcBef>
                <a:spcPts val="1200"/>
              </a:spcBef>
              <a:defRPr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Open: Total of $4.5K, averaging $149.05 per record</a:t>
            </a:r>
          </a:p>
          <a:p>
            <a:pPr>
              <a:spcBef>
                <a:spcPts val="1200"/>
              </a:spcBef>
              <a:defRPr>
                <a:latin typeface="Segoe UI"/>
              </a:defRPr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13 unique categories identified in Company dimension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>
                <a:latin typeface="Segoe UI"/>
              </a:defRPr>
            </a:pPr>
            <a:r>
              <a:rPr sz="1400" b="1">
                <a:solidFill>
                  <a:srgbClr val="C62828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  <a:latin typeface="Segoe UI"/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  <a:latin typeface="Segoe UI"/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  <a:latin typeface="Segoe UI"/>
              </a:defRPr>
            </a:pPr>
            <a:r>
              <a:t>Market_Cap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$13930.0B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  <a:latin typeface="Segoe UI"/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  <a:latin typeface="Segoe UI"/>
              </a:defRPr>
            </a:pPr>
            <a:r>
              <a:t>Enterprise_Value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$13670.0B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  <a:latin typeface="Segoe UI"/>
              </a:defRPr>
            </a:pPr>
            <a:r>
              <a:t>→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0175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10896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6576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$4.5K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  <a:latin typeface="Segoe UI"/>
              </a:defRPr>
            </a:pPr>
            <a:r>
              <a:t>→ Total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486400" y="1188720"/>
          <a:ext cx="3383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Segoe UI"/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Market_Cap totals $13930.0B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Enterprise_Value shows $821.4B standard deviation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Most common category: Alphabet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Segoe UI"/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Apple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23.6%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21.9%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Alphabet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14.3%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Amazon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11.8%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NVIDIA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5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5759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6.8%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0233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Berkshire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0233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6.3%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CEFF1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Segoe UI"/>
              </a:defRPr>
            </a:pPr>
            <a:r>
              <a:t>Strong Market_Cap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  <a:latin typeface="Segoe UI"/>
              </a:defRPr>
            </a:pPr>
            <a:r>
              <a:t>Total Market_Cap of $13930.0B with average of $1071.5B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CEFF1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Segoe UI"/>
              </a:defRPr>
            </a:pPr>
            <a:r>
              <a:t>Enterprise_Value Consistency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  <a:latin typeface="Segoe UI"/>
              </a:defRPr>
            </a:pPr>
            <a:r>
              <a:t>Standard deviation of $821.4B indicates high variability in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ECEFF1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  <a:latin typeface="Segoe UI"/>
              </a:defRPr>
            </a:pPr>
            <a:r>
              <a:t>Category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  <a:latin typeface="Segoe UI"/>
              </a:defRPr>
            </a:pPr>
            <a:r>
              <a:t>Analysis spans 13 distinct categories in Company,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Top Performers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0" y="1188720"/>
          <a:ext cx="38404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62828"/>
                </a:solidFill>
                <a:latin typeface="Segoe UI"/>
              </a:defRPr>
            </a:pPr>
            <a: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62828"/>
                </a:solidFill>
                <a:latin typeface="Segoe UI"/>
              </a:defRPr>
            </a:pPr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62828"/>
                </a:solidFill>
                <a:latin typeface="Segoe UI"/>
              </a:defRPr>
            </a:pPr>
            <a: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572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Apple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$2800.0B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93392"/>
            <a:ext cx="4572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9339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Microsoft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9339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$2600.0B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40864"/>
            <a:ext cx="4572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4086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Alphabet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4086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$1700.0B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88336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57200" y="2688336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68833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Amazon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88336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$1400.0B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35808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035808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03580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NVIDIA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358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$1100.0B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3383279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383279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Meta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383279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$800.0B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0752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3730752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73075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Berkshire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3075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$750.0B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78224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07822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Segoe UI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0782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Segoe UI"/>
              </a:defRPr>
            </a:pPr>
            <a:r>
              <a:t>Tesla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782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latin typeface="Segoe UI"/>
              </a:defRPr>
            </a:pPr>
            <a:r>
              <a:t>$700.0B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Segoe U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  <a:latin typeface="Segoe UI"/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Segoe UI"/>
              </a:defRPr>
            </a:pPr>
          </a:p>
          <a:p>
            <a:pPr algn="ctr">
              <a:spcAft>
                <a:spcPts val="1200"/>
              </a:spcAft>
              <a:defRPr sz="1800">
                <a:solidFill>
                  <a:srgbClr val="E53935"/>
                </a:solidFill>
                <a:latin typeface="Segoe UI"/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E53935"/>
                </a:solidFill>
                <a:latin typeface="Segoe UI"/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E53935"/>
                </a:solidFill>
                <a:latin typeface="Segoe UI"/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EFF1"/>
                </a:solidFill>
                <a:latin typeface="Segoe UI"/>
              </a:defRPr>
            </a:pPr>
            <a:r>
              <a:t>Generated by FinDeck | November 10,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