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800" b="1">
                <a:solidFill>
                  <a:srgbClr val="004F9E"/>
                </a:solidFill>
                <a:latin typeface="Segoe UI"/>
              </a:defRPr>
            </a:pPr>
            <a:r>
              <a:t>Market Capitalization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</c:v>
                </c:pt>
              </c:strCache>
            </c:strRef>
          </c:tx>
          <c:spPr>
            <a:solidFill>
              <a:srgbClr val="004F9E"/>
            </a:solidFill>
            <a:ln w="31750">
              <a:solidFill>
                <a:srgbClr val="004F9E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Apple</c:v>
                </c:pt>
                <c:pt idx="1">
                  <c:v>Microsoft</c:v>
                </c:pt>
                <c:pt idx="2">
                  <c:v>Google</c:v>
                </c:pt>
                <c:pt idx="3">
                  <c:v>Amazon</c:v>
                </c:pt>
                <c:pt idx="4">
                  <c:v>NVIDIA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2800000000000.0</c:v>
                </c:pt>
                <c:pt idx="1">
                  <c:v>2600000000000.0</c:v>
                </c:pt>
                <c:pt idx="2">
                  <c:v>1700000000000.0</c:v>
                </c:pt>
                <c:pt idx="3">
                  <c:v>1500000000000.0</c:v>
                </c:pt>
                <c:pt idx="4">
                  <c:v>1200000000000.0</c:v>
                </c:pt>
                <c:pt idx="5">
                  <c:v>3250000000000.0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3175">
              <a:solidFill>
                <a:srgbClr val="E9ECEF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C757D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u="sng">
                <a:solidFill>
                  <a:srgbClr val="004F9E"/>
                </a:solidFill>
                <a:latin typeface="Segoe UI"/>
              </a:defRPr>
            </a:pPr>
            <a:r>
              <a:t>Top 10 Companies by Market Cap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