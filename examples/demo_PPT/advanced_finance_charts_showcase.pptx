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Quarterly Revenue Growth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Q1 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125000</c:v>
                </c:pt>
                <c:pt idx="1">
                  <c:v>142000</c:v>
                </c:pt>
                <c:pt idx="2">
                  <c:v>158000</c:v>
                </c:pt>
                <c:pt idx="3">
                  <c:v>189000</c:v>
                </c:pt>
                <c:pt idx="4">
                  <c:v>215000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Q1 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35000</c:v>
                </c:pt>
                <c:pt idx="1">
                  <c:v>42000</c:v>
                </c:pt>
                <c:pt idx="2">
                  <c:v>48000</c:v>
                </c:pt>
                <c:pt idx="3">
                  <c:v>62000</c:v>
                </c:pt>
                <c:pt idx="4">
                  <c:v>78000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Expenses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Q1 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90000</c:v>
                </c:pt>
                <c:pt idx="1">
                  <c:v>100000</c:v>
                </c:pt>
                <c:pt idx="2">
                  <c:v>110000</c:v>
                </c:pt>
                <c:pt idx="3">
                  <c:v>127000</c:v>
                </c:pt>
                <c:pt idx="4">
                  <c:v>137000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Cumulative Profit Trend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Income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45000</c:v>
                </c:pt>
                <c:pt idx="1">
                  <c:v>52000</c:v>
                </c:pt>
                <c:pt idx="2">
                  <c:v>61000</c:v>
                </c:pt>
                <c:pt idx="3">
                  <c:v>58000</c:v>
                </c:pt>
                <c:pt idx="4">
                  <c:v>67000</c:v>
                </c:pt>
                <c:pt idx="5">
                  <c:v>75000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Profit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38000</c:v>
                </c:pt>
                <c:pt idx="1">
                  <c:v>44000</c:v>
                </c:pt>
                <c:pt idx="2">
                  <c:v>51000</c:v>
                </c:pt>
                <c:pt idx="3">
                  <c:v>49000</c:v>
                </c:pt>
                <c:pt idx="4">
                  <c:v>56000</c:v>
                </c:pt>
                <c:pt idx="5">
                  <c:v>63000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YoY Regional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dLbls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450000</c:v>
                </c:pt>
                <c:pt idx="1">
                  <c:v>380000</c:v>
                </c:pt>
                <c:pt idx="2">
                  <c:v>520000</c:v>
                </c:pt>
                <c:pt idx="3">
                  <c:v>180000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dLbls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520000</c:v>
                </c:pt>
                <c:pt idx="1">
                  <c:v>425000</c:v>
                </c:pt>
                <c:pt idx="2">
                  <c:v>680000</c:v>
                </c:pt>
                <c:pt idx="3">
                  <c:v>225000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Portfolio Asset Allocation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Lbls>
            <c:txPr>
              <a:bodyPr/>
              <a:lstStyle/>
              <a:p>
                <a:pPr>
                  <a:defRPr sz="1000" b="1"/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Stocks</c:v>
                </c:pt>
                <c:pt idx="1">
                  <c:v>Bonds</c:v>
                </c:pt>
                <c:pt idx="2">
                  <c:v>Real Estate</c:v>
                </c:pt>
                <c:pt idx="3">
                  <c:v>Commodities</c:v>
                </c:pt>
                <c:pt idx="4">
                  <c:v>Cash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Sector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Lbls>
            <c:txPr>
              <a:bodyPr/>
              <a:lstStyle/>
              <a:p>
                <a:pPr>
                  <a:defRPr sz="1000" b="1"/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Technology</c:v>
                </c:pt>
                <c:pt idx="1">
                  <c:v>Healthcare</c:v>
                </c:pt>
                <c:pt idx="2">
                  <c:v>Finance</c:v>
                </c:pt>
                <c:pt idx="3">
                  <c:v>Energy</c:v>
                </c:pt>
                <c:pt idx="4">
                  <c:v>Consumer</c:v>
                </c:pt>
                <c:pt idx="5">
                  <c:v>Industrial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18</c:v>
                </c:pt>
                <c:pt idx="2">
                  <c:v>16</c:v>
                </c:pt>
                <c:pt idx="3">
                  <c:v>12</c:v>
                </c:pt>
                <c:pt idx="4">
                  <c:v>15</c:v>
                </c:pt>
                <c:pt idx="5">
                  <c:v>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Portfolio Composition Over Time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Stocks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450000</c:v>
                </c:pt>
                <c:pt idx="1">
                  <c:v>480000</c:v>
                </c:pt>
                <c:pt idx="2">
                  <c:v>520000</c:v>
                </c:pt>
                <c:pt idx="3">
                  <c:v>560000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Bonds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250000</c:v>
                </c:pt>
                <c:pt idx="1">
                  <c:v>260000</c:v>
                </c:pt>
                <c:pt idx="2">
                  <c:v>270000</c:v>
                </c:pt>
                <c:pt idx="3">
                  <c:v>280000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Real Estate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150000</c:v>
                </c:pt>
                <c:pt idx="1">
                  <c:v>155000</c:v>
                </c:pt>
                <c:pt idx="2">
                  <c:v>160000</c:v>
                </c:pt>
                <c:pt idx="3">
                  <c:v>165000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Cash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50000</c:v>
                </c:pt>
                <c:pt idx="1">
                  <c:v>45000</c:v>
                </c:pt>
                <c:pt idx="2">
                  <c:v>40000</c:v>
                </c:pt>
                <c:pt idx="3">
                  <c:v>35000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P&amp;L Waterfall: Revenue to Net Income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Pt>
            <c:idx val="0"/>
            <c:spPr>
              <a:solidFill>
                <a:srgbClr val="228B22"/>
              </a:solidFill>
            </c:spPr>
          </c:dPt>
          <c:dPt>
            <c:idx val="1"/>
            <c:spPr>
              <a:solidFill>
                <a:srgbClr val="DC143C"/>
              </a:solidFill>
            </c:spPr>
          </c:dPt>
          <c:dPt>
            <c:idx val="2"/>
            <c:spPr>
              <a:solidFill>
                <a:srgbClr val="228B22"/>
              </a:solidFill>
            </c:spPr>
          </c:dPt>
          <c:dPt>
            <c:idx val="3"/>
            <c:spPr>
              <a:solidFill>
                <a:srgbClr val="DC143C"/>
              </a:solidFill>
            </c:spPr>
          </c:dPt>
          <c:dPt>
            <c:idx val="4"/>
            <c:spPr>
              <a:solidFill>
                <a:srgbClr val="228B22"/>
              </a:solidFill>
            </c:spPr>
          </c:dPt>
          <c:dPt>
            <c:idx val="5"/>
            <c:spPr>
              <a:solidFill>
                <a:srgbClr val="DC143C"/>
              </a:solidFill>
            </c:spPr>
          </c:dPt>
          <c:dPt>
            <c:idx val="6"/>
            <c:spPr>
              <a:solidFill>
                <a:srgbClr val="228B22"/>
              </a:solidFill>
            </c:spPr>
          </c:dPt>
          <c:dPt>
            <c:idx val="7"/>
            <c:spPr>
              <a:solidFill>
                <a:srgbClr val="DC143C"/>
              </a:solidFill>
            </c:spPr>
          </c:dPt>
          <c:dPt>
            <c:idx val="8"/>
            <c:spPr>
              <a:solidFill>
                <a:srgbClr val="228B22"/>
              </a:solidFill>
            </c:spPr>
          </c:dPt>
          <c:cat>
            <c:strRef>
              <c:f>Sheet1!$A$2:$A$10</c:f>
              <c:strCache>
                <c:ptCount val="9"/>
                <c:pt idx="0">
                  <c:v>Revenue</c:v>
                </c:pt>
                <c:pt idx="1">
                  <c:v>COGS</c:v>
                </c:pt>
                <c:pt idx="2">
                  <c:v>Gross Profit</c:v>
                </c:pt>
                <c:pt idx="3">
                  <c:v>OpEx</c:v>
                </c:pt>
                <c:pt idx="4">
                  <c:v>EBITDA</c:v>
                </c:pt>
                <c:pt idx="5">
                  <c:v>D&amp;A</c:v>
                </c:pt>
                <c:pt idx="6">
                  <c:v>EBIT</c:v>
                </c:pt>
                <c:pt idx="7">
                  <c:v>Tax</c:v>
                </c:pt>
                <c:pt idx="8">
                  <c:v>Net Income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1000000</c:v>
                </c:pt>
                <c:pt idx="1">
                  <c:v>-450000</c:v>
                </c:pt>
                <c:pt idx="2">
                  <c:v>550000</c:v>
                </c:pt>
                <c:pt idx="3">
                  <c:v>-280000</c:v>
                </c:pt>
                <c:pt idx="4">
                  <c:v>270000</c:v>
                </c:pt>
                <c:pt idx="5">
                  <c:v>-35000</c:v>
                </c:pt>
                <c:pt idx="6">
                  <c:v>235000</c:v>
                </c:pt>
                <c:pt idx="7">
                  <c:v>-70500</c:v>
                </c:pt>
                <c:pt idx="8">
                  <c:v>164500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Quarterly Expense Composition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Salaries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180000</c:v>
                </c:pt>
                <c:pt idx="1">
                  <c:v>185000</c:v>
                </c:pt>
                <c:pt idx="2">
                  <c:v>190000</c:v>
                </c:pt>
                <c:pt idx="3">
                  <c:v>195000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Marketing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45000</c:v>
                </c:pt>
                <c:pt idx="1">
                  <c:v>52000</c:v>
                </c:pt>
                <c:pt idx="2">
                  <c:v>48000</c:v>
                </c:pt>
                <c:pt idx="3">
                  <c:v>55000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R&amp;D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65000</c:v>
                </c:pt>
                <c:pt idx="1">
                  <c:v>68000</c:v>
                </c:pt>
                <c:pt idx="2">
                  <c:v>72000</c:v>
                </c:pt>
                <c:pt idx="3">
                  <c:v>75000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Operations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38000</c:v>
                </c:pt>
                <c:pt idx="1">
                  <c:v>40000</c:v>
                </c:pt>
                <c:pt idx="2">
                  <c:v>42000</c:v>
                </c:pt>
                <c:pt idx="3">
                  <c:v>44000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Revenue by Department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Generated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Sales</c:v>
                </c:pt>
                <c:pt idx="1">
                  <c:v>Marketing</c:v>
                </c:pt>
                <c:pt idx="2">
                  <c:v>Product</c:v>
                </c:pt>
                <c:pt idx="3">
                  <c:v>Engineering</c:v>
                </c:pt>
                <c:pt idx="4">
                  <c:v>Customer Success</c:v>
                </c:pt>
                <c:pt idx="5">
                  <c:v>Operations</c:v>
                </c:pt>
                <c:pt idx="6">
                  <c:v>Finance</c:v>
                </c:pt>
                <c:pt idx="7">
                  <c:v>HR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2500000</c:v>
                </c:pt>
                <c:pt idx="1">
                  <c:v>450000</c:v>
                </c:pt>
                <c:pt idx="2">
                  <c:v>680000</c:v>
                </c:pt>
                <c:pt idx="3">
                  <c:v>320000</c:v>
                </c:pt>
                <c:pt idx="4">
                  <c:v>890000</c:v>
                </c:pt>
                <c:pt idx="5">
                  <c:v>240000</c:v>
                </c:pt>
                <c:pt idx="6">
                  <c:v>180000</c:v>
                </c:pt>
                <c:pt idx="7">
                  <c:v>120000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Stock Price Movement (OHLC)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01/01</c:v>
                </c:pt>
                <c:pt idx="1">
                  <c:v>01/02</c:v>
                </c:pt>
                <c:pt idx="2">
                  <c:v>01/03</c:v>
                </c:pt>
                <c:pt idx="3">
                  <c:v>01/04</c:v>
                </c:pt>
                <c:pt idx="4">
                  <c:v>01/05</c:v>
                </c:pt>
                <c:pt idx="5">
                  <c:v>01/06</c:v>
                </c:pt>
                <c:pt idx="6">
                  <c:v>01/07</c:v>
                </c:pt>
                <c:pt idx="7">
                  <c:v>01/08</c:v>
                </c:pt>
                <c:pt idx="8">
                  <c:v>01/09</c:v>
                </c:pt>
                <c:pt idx="9">
                  <c:v>01/10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150.2</c:v>
                </c:pt>
                <c:pt idx="1">
                  <c:v>152.5</c:v>
                </c:pt>
                <c:pt idx="2">
                  <c:v>151.8</c:v>
                </c:pt>
                <c:pt idx="3">
                  <c:v>153.2</c:v>
                </c:pt>
                <c:pt idx="4">
                  <c:v>154.5</c:v>
                </c:pt>
                <c:pt idx="5">
                  <c:v>153.8</c:v>
                </c:pt>
                <c:pt idx="6">
                  <c:v>155.2</c:v>
                </c:pt>
                <c:pt idx="7">
                  <c:v>156.8</c:v>
                </c:pt>
                <c:pt idx="8">
                  <c:v>155.5</c:v>
                </c:pt>
                <c:pt idx="9">
                  <c:v>157.2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01/01</c:v>
                </c:pt>
                <c:pt idx="1">
                  <c:v>01/02</c:v>
                </c:pt>
                <c:pt idx="2">
                  <c:v>01/03</c:v>
                </c:pt>
                <c:pt idx="3">
                  <c:v>01/04</c:v>
                </c:pt>
                <c:pt idx="4">
                  <c:v>01/05</c:v>
                </c:pt>
                <c:pt idx="5">
                  <c:v>01/06</c:v>
                </c:pt>
                <c:pt idx="6">
                  <c:v>01/07</c:v>
                </c:pt>
                <c:pt idx="7">
                  <c:v>01/08</c:v>
                </c:pt>
                <c:pt idx="8">
                  <c:v>01/09</c:v>
                </c:pt>
                <c:pt idx="9">
                  <c:v>01/10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153.8</c:v>
                </c:pt>
                <c:pt idx="1">
                  <c:v>154.2</c:v>
                </c:pt>
                <c:pt idx="2">
                  <c:v>154.5</c:v>
                </c:pt>
                <c:pt idx="3">
                  <c:v>155.8</c:v>
                </c:pt>
                <c:pt idx="4">
                  <c:v>156.2</c:v>
                </c:pt>
                <c:pt idx="5">
                  <c:v>156.5</c:v>
                </c:pt>
                <c:pt idx="6">
                  <c:v>157.8</c:v>
                </c:pt>
                <c:pt idx="7">
                  <c:v>158.2</c:v>
                </c:pt>
                <c:pt idx="8">
                  <c:v>157.8</c:v>
                </c:pt>
                <c:pt idx="9">
                  <c:v>159.5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01/01</c:v>
                </c:pt>
                <c:pt idx="1">
                  <c:v>01/02</c:v>
                </c:pt>
                <c:pt idx="2">
                  <c:v>01/03</c:v>
                </c:pt>
                <c:pt idx="3">
                  <c:v>01/04</c:v>
                </c:pt>
                <c:pt idx="4">
                  <c:v>01/05</c:v>
                </c:pt>
                <c:pt idx="5">
                  <c:v>01/06</c:v>
                </c:pt>
                <c:pt idx="6">
                  <c:v>01/07</c:v>
                </c:pt>
                <c:pt idx="7">
                  <c:v>01/08</c:v>
                </c:pt>
                <c:pt idx="8">
                  <c:v>01/09</c:v>
                </c:pt>
                <c:pt idx="9">
                  <c:v>01/10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149.5</c:v>
                </c:pt>
                <c:pt idx="1">
                  <c:v>151.2</c:v>
                </c:pt>
                <c:pt idx="2">
                  <c:v>150.8</c:v>
                </c:pt>
                <c:pt idx="3">
                  <c:v>152.5</c:v>
                </c:pt>
                <c:pt idx="4">
                  <c:v>153.2</c:v>
                </c:pt>
                <c:pt idx="5">
                  <c:v>152.8</c:v>
                </c:pt>
                <c:pt idx="6">
                  <c:v>154.5</c:v>
                </c:pt>
                <c:pt idx="7">
                  <c:v>155.2</c:v>
                </c:pt>
                <c:pt idx="8">
                  <c:v>154.8</c:v>
                </c:pt>
                <c:pt idx="9">
                  <c:v>156.2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Close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01/01</c:v>
                </c:pt>
                <c:pt idx="1">
                  <c:v>01/02</c:v>
                </c:pt>
                <c:pt idx="2">
                  <c:v>01/03</c:v>
                </c:pt>
                <c:pt idx="3">
                  <c:v>01/04</c:v>
                </c:pt>
                <c:pt idx="4">
                  <c:v>01/05</c:v>
                </c:pt>
                <c:pt idx="5">
                  <c:v>01/06</c:v>
                </c:pt>
                <c:pt idx="6">
                  <c:v>01/07</c:v>
                </c:pt>
                <c:pt idx="7">
                  <c:v>01/08</c:v>
                </c:pt>
                <c:pt idx="8">
                  <c:v>01/09</c:v>
                </c:pt>
                <c:pt idx="9">
                  <c:v>01/10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152.5</c:v>
                </c:pt>
                <c:pt idx="1">
                  <c:v>151.8</c:v>
                </c:pt>
                <c:pt idx="2">
                  <c:v>153.2</c:v>
                </c:pt>
                <c:pt idx="3">
                  <c:v>154.5</c:v>
                </c:pt>
                <c:pt idx="4">
                  <c:v>153.8</c:v>
                </c:pt>
                <c:pt idx="5">
                  <c:v>155.2</c:v>
                </c:pt>
                <c:pt idx="6">
                  <c:v>156.8</c:v>
                </c:pt>
                <c:pt idx="7">
                  <c:v>155.5</c:v>
                </c:pt>
                <c:pt idx="8">
                  <c:v>157.2</c:v>
                </c:pt>
                <c:pt idx="9">
                  <c:v>158.8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