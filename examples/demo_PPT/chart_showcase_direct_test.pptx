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Performance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125000.0</c:v>
                </c:pt>
                <c:pt idx="1">
                  <c:v>142000.0</c:v>
                </c:pt>
                <c:pt idx="2">
                  <c:v>158000.0</c:v>
                </c:pt>
                <c:pt idx="3">
                  <c:v>189000.0</c:v>
                </c:pt>
                <c:pt idx="4">
                  <c:v>215000.0</c:v>
                </c:pt>
                <c:pt idx="5">
                  <c:v>248000.0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35000.0</c:v>
                </c:pt>
                <c:pt idx="1">
                  <c:v>42000.0</c:v>
                </c:pt>
                <c:pt idx="2">
                  <c:v>48000.0</c:v>
                </c:pt>
                <c:pt idx="3">
                  <c:v>62000.0</c:v>
                </c:pt>
                <c:pt idx="4">
                  <c:v>78000.0</c:v>
                </c:pt>
                <c:pt idx="5">
                  <c:v>92000.0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90000.0</c:v>
                </c:pt>
                <c:pt idx="1">
                  <c:v>100000.0</c:v>
                </c:pt>
                <c:pt idx="2">
                  <c:v>110000.0</c:v>
                </c:pt>
                <c:pt idx="3">
                  <c:v>127000.0</c:v>
                </c:pt>
                <c:pt idx="4">
                  <c:v>137000.0</c:v>
                </c:pt>
                <c:pt idx="5">
                  <c:v>156000.0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Product A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45000.0</c:v>
                </c:pt>
                <c:pt idx="1">
                  <c:v>52000.0</c:v>
                </c:pt>
                <c:pt idx="2">
                  <c:v>58000.0</c:v>
                </c:pt>
                <c:pt idx="3">
                  <c:v>68000.0</c:v>
                </c:pt>
                <c:pt idx="4">
                  <c:v>78000.0</c:v>
                </c:pt>
                <c:pt idx="5">
                  <c:v>92000.0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Product B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38000.0</c:v>
                </c:pt>
                <c:pt idx="1">
                  <c:v>42000.0</c:v>
                </c:pt>
                <c:pt idx="2">
                  <c:v>48000.0</c:v>
                </c:pt>
                <c:pt idx="3">
                  <c:v>55000.0</c:v>
                </c:pt>
                <c:pt idx="4">
                  <c:v>62000.0</c:v>
                </c:pt>
                <c:pt idx="5">
                  <c:v>70000.0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Data Insights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150.2</c:v>
                </c:pt>
                <c:pt idx="12">
                  <c:v>152.5</c:v>
                </c:pt>
                <c:pt idx="13">
                  <c:v>151.8</c:v>
                </c:pt>
                <c:pt idx="14">
                  <c:v>153.2</c:v>
                </c:pt>
                <c:pt idx="15">
                  <c:v>154.5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153.8</c:v>
                </c:pt>
                <c:pt idx="12">
                  <c:v>154.2</c:v>
                </c:pt>
                <c:pt idx="13">
                  <c:v>154.5</c:v>
                </c:pt>
                <c:pt idx="14">
                  <c:v>155.8</c:v>
                </c:pt>
                <c:pt idx="15">
                  <c:v>156.2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149.5</c:v>
                </c:pt>
                <c:pt idx="12">
                  <c:v>151.2</c:v>
                </c:pt>
                <c:pt idx="13">
                  <c:v>150.8</c:v>
                </c:pt>
                <c:pt idx="14">
                  <c:v>152.5</c:v>
                </c:pt>
                <c:pt idx="15">
                  <c:v>153.2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152.5</c:v>
                </c:pt>
                <c:pt idx="12">
                  <c:v>151.8</c:v>
                </c:pt>
                <c:pt idx="13">
                  <c:v>153.2</c:v>
                </c:pt>
                <c:pt idx="14">
                  <c:v>154.5</c:v>
                </c:pt>
                <c:pt idx="15">
                  <c:v>155.8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Sector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228B22"/>
              </a:solidFill>
            </c:spPr>
          </c:dPt>
          <c:dPt>
            <c:idx val="1"/>
            <c:spPr>
              <a:solidFill>
                <a:srgbClr val="228B22"/>
              </a:solidFill>
            </c:spPr>
          </c:dPt>
          <c:dPt>
            <c:idx val="2"/>
            <c:spPr>
              <a:solidFill>
                <a:srgbClr val="228B22"/>
              </a:solidFill>
            </c:spPr>
          </c:dPt>
          <c:dPt>
            <c:idx val="3"/>
            <c:spPr>
              <a:solidFill>
                <a:srgbClr val="228B22"/>
              </a:solidFill>
            </c:spPr>
          </c:dPt>
          <c:dPt>
            <c:idx val="4"/>
            <c:spPr>
              <a:solidFill>
                <a:srgbClr val="228B22"/>
              </a:solidFill>
            </c:spPr>
          </c:dPt>
          <c:dPt>
            <c:idx val="5"/>
            <c:spPr>
              <a:solidFill>
                <a:srgbClr val="228B22"/>
              </a:solidFill>
            </c:spPr>
          </c:dPt>
          <c:cat>
            <c:strRef>
              <c:f>Sheet1!$A$2:$A$7</c:f>
              <c:strCache>
                <c:ptCount val="6"/>
                <c:pt idx="0">
                  <c:v>Q2 2025</c:v>
                </c:pt>
                <c:pt idx="1">
                  <c:v>Q1 2025</c:v>
                </c:pt>
                <c:pt idx="2">
                  <c:v>Q4 2024</c:v>
                </c:pt>
                <c:pt idx="3">
                  <c:v>Q3 2024</c:v>
                </c:pt>
                <c:pt idx="4">
                  <c:v>Q2 2024</c:v>
                </c:pt>
                <c:pt idx="5">
                  <c:v>Q1 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248000.0</c:v>
                </c:pt>
                <c:pt idx="1">
                  <c:v>215000.0</c:v>
                </c:pt>
                <c:pt idx="2">
                  <c:v>189000.0</c:v>
                </c:pt>
                <c:pt idx="3">
                  <c:v>158000.0</c:v>
                </c:pt>
                <c:pt idx="4">
                  <c:v>142000.0</c:v>
                </c:pt>
                <c:pt idx="5">
                  <c:v>125000.0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Comparison Analysis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Q2 2025</c:v>
                </c:pt>
                <c:pt idx="1">
                  <c:v>Q1 2025</c:v>
                </c:pt>
                <c:pt idx="2">
                  <c:v>Q4 2024</c:v>
                </c:pt>
                <c:pt idx="3">
                  <c:v>Q3 2024</c:v>
                </c:pt>
                <c:pt idx="4">
                  <c:v>Q2 2024</c:v>
                </c:pt>
                <c:pt idx="5">
                  <c:v>Q1 2024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248000.0</c:v>
                </c:pt>
                <c:pt idx="1">
                  <c:v>215000.0</c:v>
                </c:pt>
                <c:pt idx="2">
                  <c:v>189000.0</c:v>
                </c:pt>
                <c:pt idx="3">
                  <c:v>158000.0</c:v>
                </c:pt>
                <c:pt idx="4">
                  <c:v>142000.0</c:v>
                </c:pt>
                <c:pt idx="5">
                  <c:v>125000.0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Q2 2025</c:v>
                </c:pt>
                <c:pt idx="1">
                  <c:v>Q1 2025</c:v>
                </c:pt>
                <c:pt idx="2">
                  <c:v>Q4 2024</c:v>
                </c:pt>
                <c:pt idx="3">
                  <c:v>Q3 2024</c:v>
                </c:pt>
                <c:pt idx="4">
                  <c:v>Q2 2024</c:v>
                </c:pt>
                <c:pt idx="5">
                  <c:v>Q1 2024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92000.0</c:v>
                </c:pt>
                <c:pt idx="1">
                  <c:v>78000.0</c:v>
                </c:pt>
                <c:pt idx="2">
                  <c:v>62000.0</c:v>
                </c:pt>
                <c:pt idx="3">
                  <c:v>48000.0</c:v>
                </c:pt>
                <c:pt idx="4">
                  <c:v>42000.0</c:v>
                </c:pt>
                <c:pt idx="5">
                  <c:v>35000.0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Q2 2025</c:v>
                </c:pt>
                <c:pt idx="1">
                  <c:v>Q1 2025</c:v>
                </c:pt>
                <c:pt idx="2">
                  <c:v>Q4 2024</c:v>
                </c:pt>
                <c:pt idx="3">
                  <c:v>Q3 2024</c:v>
                </c:pt>
                <c:pt idx="4">
                  <c:v>Q2 2024</c:v>
                </c:pt>
                <c:pt idx="5">
                  <c:v>Q1 2024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156000.0</c:v>
                </c:pt>
                <c:pt idx="1">
                  <c:v>137000.0</c:v>
                </c:pt>
                <c:pt idx="2">
                  <c:v>127000.0</c:v>
                </c:pt>
                <c:pt idx="3">
                  <c:v>110000.0</c:v>
                </c:pt>
                <c:pt idx="4">
                  <c:v>100000.0</c:v>
                </c:pt>
                <c:pt idx="5">
                  <c:v>90000.0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Trend Analysis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150.2</c:v>
                </c:pt>
                <c:pt idx="12">
                  <c:v>152.5</c:v>
                </c:pt>
                <c:pt idx="13">
                  <c:v>151.8</c:v>
                </c:pt>
                <c:pt idx="14">
                  <c:v>153.2</c:v>
                </c:pt>
                <c:pt idx="15">
                  <c:v>154.5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153.8</c:v>
                </c:pt>
                <c:pt idx="12">
                  <c:v>154.2</c:v>
                </c:pt>
                <c:pt idx="13">
                  <c:v>154.5</c:v>
                </c:pt>
                <c:pt idx="14">
                  <c:v>155.8</c:v>
                </c:pt>
                <c:pt idx="15">
                  <c:v>156.2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149.5</c:v>
                </c:pt>
                <c:pt idx="12">
                  <c:v>151.2</c:v>
                </c:pt>
                <c:pt idx="13">
                  <c:v>150.8</c:v>
                </c:pt>
                <c:pt idx="14">
                  <c:v>152.5</c:v>
                </c:pt>
                <c:pt idx="15">
                  <c:v>153.2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2025-01-01</c:v>
                </c:pt>
                <c:pt idx="12">
                  <c:v>2025-01-02</c:v>
                </c:pt>
                <c:pt idx="13">
                  <c:v>2025-01-03</c:v>
                </c:pt>
                <c:pt idx="14">
                  <c:v>2025-01-04</c:v>
                </c:pt>
                <c:pt idx="15">
                  <c:v>2025-01-05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152.5</c:v>
                </c:pt>
                <c:pt idx="12">
                  <c:v>151.8</c:v>
                </c:pt>
                <c:pt idx="13">
                  <c:v>153.2</c:v>
                </c:pt>
                <c:pt idx="14">
                  <c:v>154.5</c:v>
                </c:pt>
                <c:pt idx="15">
                  <c:v>155.8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92A56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Multi-Chart Financial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498DB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3498DB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</a:t>
            </a:r>
            <a:r>
              <a:t>covers </a:t>
            </a:r>
            <a:r>
              <a:t>16 </a:t>
            </a:r>
            <a:r>
              <a:t>data </a:t>
            </a:r>
            <a:r>
              <a:t>points </a:t>
            </a:r>
            <a:r>
              <a:t>across </a:t>
            </a:r>
            <a:r>
              <a:t>14 </a:t>
            </a:r>
            <a:r>
              <a:t>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Revenue: </a:t>
            </a:r>
            <a:r>
              <a:t>Total </a:t>
            </a:r>
            <a:r>
              <a:t>of </a:t>
            </a:r>
            <a:r>
              <a:t>$1.1M, </a:t>
            </a:r>
            <a:r>
              <a:t>averaging </a:t>
            </a:r>
            <a:r>
              <a:t>$179.5K </a:t>
            </a:r>
            <a:r>
              <a:t>per </a:t>
            </a:r>
            <a:r>
              <a:t>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b="1">
                <a:solidFill>
                  <a:srgbClr val="2E7D32"/>
                </a:solidFill>
              </a:rPr>
              <a:t>Profit: </a:t>
            </a:r>
            <a:r>
              <a:t>Total </a:t>
            </a:r>
            <a:r>
              <a:t>of </a:t>
            </a:r>
            <a:r>
              <a:t>$357.0K, </a:t>
            </a:r>
            <a:r>
              <a:t>averaging </a:t>
            </a:r>
            <a:r>
              <a:t>$59.5K </a:t>
            </a:r>
            <a:r>
              <a:t>per </a:t>
            </a:r>
            <a:r>
              <a:t>record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Expenses: </a:t>
            </a:r>
            <a:r>
              <a:t>Total </a:t>
            </a:r>
            <a:r>
              <a:t>of </a:t>
            </a:r>
            <a:r>
              <a:t>$720.0K, </a:t>
            </a:r>
            <a:r>
              <a:t>averaging </a:t>
            </a:r>
            <a:r>
              <a:t>$120.0K </a:t>
            </a:r>
            <a:r>
              <a:t>per </a:t>
            </a:r>
            <a:r>
              <a:t>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6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Quarter </a:t>
            </a:r>
            <a:r>
              <a:t>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Analysis covers 16 data points across 14 dimensions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Revenue: Total of $1.1M, averaging $179.5K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Profit: Total of $357.0K, averaging $59.5K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Expenses: Total of $720.0K, averaging $120.0K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6 unique categories identified in Quarter dimension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192A56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155448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A56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2286000" cy="155448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A56"/>
                </a:solidFill>
              </a:defRPr>
            </a:pPr>
            <a:r>
              <a:t>$1.1M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155448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A56"/>
                </a:solidFill>
              </a:defRPr>
            </a:pPr>
            <a:r>
              <a:t>$357.0K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017520"/>
            <a:ext cx="2286000" cy="155448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6576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A56"/>
                </a:solidFill>
              </a:defRPr>
            </a:pPr>
            <a:r>
              <a:t>$720.0K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486400" y="1188720"/>
          <a:ext cx="3383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Revenue totals $1.1M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Profit shows $22.1K standard deviation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Q1 2024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Q2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23.0%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Q1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Q4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Q3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Q2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13.2%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5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Q1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5759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11.6%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Strong Revenue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Revenue of $1.1M with average of $179.5K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Profit Consistency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Standard deviation of $22.1K indicates moderate variability in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Category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6 distinct categories in Quarter,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Top Performers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0" y="1188720"/>
          <a:ext cx="38404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56"/>
                </a:solidFill>
              </a:defRPr>
            </a:pPr>
            <a: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56"/>
                </a:solidFill>
              </a:defRPr>
            </a:pPr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2A56"/>
                </a:solidFill>
              </a:defRPr>
            </a:pPr>
            <a: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57200" cy="29260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Q2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$248.0K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93392"/>
            <a:ext cx="457200" cy="29260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9339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Q1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9339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$215.0K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40864"/>
            <a:ext cx="457200" cy="29260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4086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Q4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4086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$189.0K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88336"/>
            <a:ext cx="4572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88336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68833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Q3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88336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$158.0K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35808"/>
            <a:ext cx="4572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35808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03580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Q2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358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$142.0K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4572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83279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383279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Q1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383279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$125.0K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0752"/>
            <a:ext cx="4572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30752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73075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3075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$nan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78224"/>
            <a:ext cx="4572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7822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0782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782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$nan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Generated by FinDeck | November 10,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