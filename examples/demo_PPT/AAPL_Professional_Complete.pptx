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cat>
            <c:strRef>
              <c:f>Sheet1!$A$2:$A$24</c:f>
              <c:strCache>
                <c:ptCount val="23"/>
                <c:pt idx="0">
                  <c:v>2025-10-01 00:00:00</c:v>
                </c:pt>
                <c:pt idx="1">
                  <c:v>2025-10-02 00:00:00</c:v>
                </c:pt>
                <c:pt idx="2">
                  <c:v>2025-10-03 00:00:00</c:v>
                </c:pt>
                <c:pt idx="3">
                  <c:v>2025-10-06 00:00:00</c:v>
                </c:pt>
                <c:pt idx="4">
                  <c:v>2025-10-07 00:00:00</c:v>
                </c:pt>
                <c:pt idx="5">
                  <c:v>2025-10-08 00:00:00</c:v>
                </c:pt>
                <c:pt idx="6">
                  <c:v>2025-10-09 00:00:00</c:v>
                </c:pt>
                <c:pt idx="7">
                  <c:v>2025-10-10 00:00:00</c:v>
                </c:pt>
                <c:pt idx="8">
                  <c:v>2025-10-13 00:00:00</c:v>
                </c:pt>
                <c:pt idx="9">
                  <c:v>2025-10-14 00:00:00</c:v>
                </c:pt>
                <c:pt idx="10">
                  <c:v>2025-10-15 00:00:00</c:v>
                </c:pt>
                <c:pt idx="11">
                  <c:v>2025-10-16 00:00:00</c:v>
                </c:pt>
                <c:pt idx="12">
                  <c:v>2025-10-17 00:00:00</c:v>
                </c:pt>
                <c:pt idx="13">
                  <c:v>2025-10-20 00:00:00</c:v>
                </c:pt>
                <c:pt idx="14">
                  <c:v>2025-10-21 00:00:00</c:v>
                </c:pt>
                <c:pt idx="15">
                  <c:v>2025-10-22 00:00:00</c:v>
                </c:pt>
                <c:pt idx="16">
                  <c:v>2025-10-23 00:00:00</c:v>
                </c:pt>
                <c:pt idx="17">
                  <c:v>2025-10-24 00:00:00</c:v>
                </c:pt>
                <c:pt idx="18">
                  <c:v>2025-10-27 00:00:00</c:v>
                </c:pt>
                <c:pt idx="19">
                  <c:v>2025-10-28 00:00:00</c:v>
                </c:pt>
                <c:pt idx="20">
                  <c:v>2025-10-29 00:00:00</c:v>
                </c:pt>
                <c:pt idx="21">
                  <c:v>2025-10-30 00:00:00</c:v>
                </c:pt>
                <c:pt idx="22">
                  <c:v>2025-10-31 00:00:00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255.4499969482422</c:v>
                </c:pt>
                <c:pt idx="1">
                  <c:v>257.1300048828125</c:v>
                </c:pt>
                <c:pt idx="2">
                  <c:v>258.0199890136719</c:v>
                </c:pt>
                <c:pt idx="3">
                  <c:v>256.6900024414062</c:v>
                </c:pt>
                <c:pt idx="4">
                  <c:v>256.4800109863281</c:v>
                </c:pt>
                <c:pt idx="5">
                  <c:v>258.0599975585938</c:v>
                </c:pt>
                <c:pt idx="6">
                  <c:v>254.0399932861328</c:v>
                </c:pt>
                <c:pt idx="7">
                  <c:v>245.2700042724609</c:v>
                </c:pt>
                <c:pt idx="8">
                  <c:v>247.6600036621094</c:v>
                </c:pt>
                <c:pt idx="9">
                  <c:v>247.7700042724609</c:v>
                </c:pt>
                <c:pt idx="10">
                  <c:v>249.3399963378906</c:v>
                </c:pt>
                <c:pt idx="11">
                  <c:v>247.4499969482422</c:v>
                </c:pt>
                <c:pt idx="12">
                  <c:v>252.2899932861328</c:v>
                </c:pt>
                <c:pt idx="13">
                  <c:v>262.239990234375</c:v>
                </c:pt>
                <c:pt idx="14">
                  <c:v>262.7699890136719</c:v>
                </c:pt>
                <c:pt idx="15">
                  <c:v>258.4500122070312</c:v>
                </c:pt>
                <c:pt idx="16">
                  <c:v>259.5799865722656</c:v>
                </c:pt>
                <c:pt idx="17">
                  <c:v>262.8200073242188</c:v>
                </c:pt>
                <c:pt idx="18">
                  <c:v>268.8099975585938</c:v>
                </c:pt>
                <c:pt idx="19">
                  <c:v>269.0</c:v>
                </c:pt>
                <c:pt idx="20">
                  <c:v>269.7000122070312</c:v>
                </c:pt>
                <c:pt idx="21">
                  <c:v>271.3999938964844</c:v>
                </c:pt>
                <c:pt idx="22">
                  <c:v>270.3699951171875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2024-09-30 00:00:00</c:v>
                </c:pt>
                <c:pt idx="1">
                  <c:v>2023-09-30 00:00:00</c:v>
                </c:pt>
                <c:pt idx="2">
                  <c:v>2022-09-30 00:00:00</c:v>
                </c:pt>
                <c:pt idx="3">
                  <c:v>2021-09-30 00:00:00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2023-09-30 00:00:00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2024-09-30 00:00:00</c:v>
                </c:pt>
                <c:pt idx="1">
                  <c:v>2023-09-30 00:00:00</c:v>
                </c:pt>
                <c:pt idx="2">
                  <c:v>2022-09-30 00:00:00</c:v>
                </c:pt>
                <c:pt idx="3">
                  <c:v>2021-09-30 00:00:00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108807000000</c:v>
                </c:pt>
                <c:pt idx="1">
                  <c:v>99584000000</c:v>
                </c:pt>
                <c:pt idx="2">
                  <c:v>111443000000</c:v>
                </c:pt>
                <c:pt idx="3">
                  <c:v>92953000000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Repurchase Of Capital Stock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2024-09-30 00:00:00</c:v>
                </c:pt>
                <c:pt idx="1">
                  <c:v>2023-09-30 00:00:00</c:v>
                </c:pt>
                <c:pt idx="2">
                  <c:v>2022-09-30 00:00:00</c:v>
                </c:pt>
                <c:pt idx="3">
                  <c:v>2021-09-30 00:00:00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-94949000000</c:v>
                </c:pt>
                <c:pt idx="1">
                  <c:v>-77550000000</c:v>
                </c:pt>
                <c:pt idx="2">
                  <c:v>-89402000000</c:v>
                </c:pt>
                <c:pt idx="3">
                  <c:v>-85971000000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Repayment Of Debt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2024-09-30 00:00:00</c:v>
                </c:pt>
                <c:pt idx="1">
                  <c:v>2023-09-30 00:00:00</c:v>
                </c:pt>
                <c:pt idx="2">
                  <c:v>2022-09-30 00:00:00</c:v>
                </c:pt>
                <c:pt idx="3">
                  <c:v>2021-09-30 00:00:00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-9958000000</c:v>
                </c:pt>
                <c:pt idx="1">
                  <c:v>-11151000000</c:v>
                </c:pt>
                <c:pt idx="2">
                  <c:v>-9543000000</c:v>
                </c:pt>
                <c:pt idx="3">
                  <c:v>-8750000000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Inc. (AAPL)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Financial Analysis with Data &amp; Visualizations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AAPL -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0" y="914400"/>
          <a:ext cx="3200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Symbol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AAPL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Company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Sector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Website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Employees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150K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Current Pric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Previous Clo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Market Cap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4027.7B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AAPL - Price History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0" y="914400"/>
          <a:ext cx="3200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Close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2025-10-01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255.4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2025-10-02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257.1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2025-10-03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258.0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2025-10-06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256.7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2025-10-07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256.5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2025-10-08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258.1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2025-10-09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254.0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2025-10-10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245.3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2025-10-13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247.7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2025-10-14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247.8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AAPL - Income Statement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0" y="914400"/>
          <a:ext cx="3200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Tax Effect Of U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2024-09-30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2023-09-30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2022-09-30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2021-09-30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AAPL - Balance Sheet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0" y="914400"/>
          <a:ext cx="3200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Treasury Shares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2024-09-30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2023-09-30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2022-09-30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2021-09-30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AAPL - Cash Flow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0" y="914400"/>
          <a:ext cx="3200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Free Cash Flow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Repurchase Of C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2024-09-30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108.8B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-94.9B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2023-09-30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99.6B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-77.5B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2022-09-30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111.4B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-89.4B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2021-09-30 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93.0B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-86.0B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