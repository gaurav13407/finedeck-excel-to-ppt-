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5400">
              <a:solidFill>
                <a:srgbClr val="C6282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Q1 2025</c:v>
                </c:pt>
                <c:pt idx="5">
                  <c:v>Q2 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125000</c:v>
                </c:pt>
                <c:pt idx="1">
                  <c:v>142000</c:v>
                </c:pt>
                <c:pt idx="2">
                  <c:v>158000</c:v>
                </c:pt>
                <c:pt idx="3">
                  <c:v>189000</c:v>
                </c:pt>
                <c:pt idx="4">
                  <c:v>215000</c:v>
                </c:pt>
                <c:pt idx="5">
                  <c:v>248000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ln w="25400">
              <a:solidFill>
                <a:srgbClr val="D32F2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Q1 2025</c:v>
                </c:pt>
                <c:pt idx="5">
                  <c:v>Q2 2025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35000</c:v>
                </c:pt>
                <c:pt idx="1">
                  <c:v>42000</c:v>
                </c:pt>
                <c:pt idx="2">
                  <c:v>48000</c:v>
                </c:pt>
                <c:pt idx="3">
                  <c:v>62000</c:v>
                </c:pt>
                <c:pt idx="4">
                  <c:v>78000</c:v>
                </c:pt>
                <c:pt idx="5">
                  <c:v>92000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Expenses</c:v>
                </c:pt>
              </c:strCache>
            </c:strRef>
          </c:tx>
          <c:spPr>
            <a:ln w="25400">
              <a:solidFill>
                <a:srgbClr val="E53935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  <c:pt idx="4">
                  <c:v>Q1 2025</c:v>
                </c:pt>
                <c:pt idx="5">
                  <c:v>Q2 2025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90000</c:v>
                </c:pt>
                <c:pt idx="1">
                  <c:v>100000</c:v>
                </c:pt>
                <c:pt idx="2">
                  <c:v>110000</c:v>
                </c:pt>
                <c:pt idx="3">
                  <c:v>127000</c:v>
                </c:pt>
                <c:pt idx="4">
                  <c:v>137000</c:v>
                </c:pt>
                <c:pt idx="5">
                  <c:v>156000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Generated</c:v>
                </c:pt>
              </c:strCache>
            </c:strRef>
          </c:tx>
          <c:spPr>
            <a:ln w="25400">
              <a:solidFill>
                <a:srgbClr val="C62828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Sales</c:v>
                </c:pt>
                <c:pt idx="1">
                  <c:v>Marketing</c:v>
                </c:pt>
                <c:pt idx="2">
                  <c:v>Product</c:v>
                </c:pt>
                <c:pt idx="3">
                  <c:v>Engineering</c:v>
                </c:pt>
                <c:pt idx="4">
                  <c:v>Customer Success</c:v>
                </c:pt>
                <c:pt idx="5">
                  <c:v>Operations</c:v>
                </c:pt>
                <c:pt idx="6">
                  <c:v>Finance</c:v>
                </c:pt>
                <c:pt idx="7">
                  <c:v>HR</c:v>
                </c:pt>
                <c:pt idx="8">
                  <c:v>R&amp;D</c:v>
                </c:pt>
                <c:pt idx="9">
                  <c:v>IT</c:v>
                </c:pt>
                <c:pt idx="10">
                  <c:v>Legal</c:v>
                </c:pt>
                <c:pt idx="11">
                  <c:v>Admin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2500000</c:v>
                </c:pt>
                <c:pt idx="1">
                  <c:v>450000</c:v>
                </c:pt>
                <c:pt idx="2">
                  <c:v>680000</c:v>
                </c:pt>
                <c:pt idx="3">
                  <c:v>320000</c:v>
                </c:pt>
                <c:pt idx="4">
                  <c:v>890000</c:v>
                </c:pt>
                <c:pt idx="5">
                  <c:v>240000</c:v>
                </c:pt>
                <c:pt idx="6">
                  <c:v>180000</c:v>
                </c:pt>
                <c:pt idx="7">
                  <c:v>120000</c:v>
                </c:pt>
                <c:pt idx="8">
                  <c:v>550000</c:v>
                </c:pt>
                <c:pt idx="9">
                  <c:v>280000</c:v>
                </c:pt>
                <c:pt idx="10">
                  <c:v>95000</c:v>
                </c:pt>
                <c:pt idx="11">
                  <c:v>75000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Team Size</c:v>
                </c:pt>
              </c:strCache>
            </c:strRef>
          </c:tx>
          <c:spPr>
            <a:ln w="25400">
              <a:solidFill>
                <a:srgbClr val="D32F2F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Sales</c:v>
                </c:pt>
                <c:pt idx="1">
                  <c:v>Marketing</c:v>
                </c:pt>
                <c:pt idx="2">
                  <c:v>Product</c:v>
                </c:pt>
                <c:pt idx="3">
                  <c:v>Engineering</c:v>
                </c:pt>
                <c:pt idx="4">
                  <c:v>Customer Success</c:v>
                </c:pt>
                <c:pt idx="5">
                  <c:v>Operations</c:v>
                </c:pt>
                <c:pt idx="6">
                  <c:v>Finance</c:v>
                </c:pt>
                <c:pt idx="7">
                  <c:v>HR</c:v>
                </c:pt>
                <c:pt idx="8">
                  <c:v>R&amp;D</c:v>
                </c:pt>
                <c:pt idx="9">
                  <c:v>IT</c:v>
                </c:pt>
                <c:pt idx="10">
                  <c:v>Legal</c:v>
                </c:pt>
                <c:pt idx="11">
                  <c:v>Admin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</c:v>
                </c:pt>
                <c:pt idx="1">
                  <c:v>12</c:v>
                </c:pt>
                <c:pt idx="2">
                  <c:v>28</c:v>
                </c:pt>
                <c:pt idx="3">
                  <c:v>65</c:v>
                </c:pt>
                <c:pt idx="4">
                  <c:v>22</c:v>
                </c:pt>
                <c:pt idx="5">
                  <c:v>18</c:v>
                </c:pt>
                <c:pt idx="6">
                  <c:v>8</c:v>
                </c:pt>
                <c:pt idx="7">
                  <c:v>6</c:v>
                </c:pt>
                <c:pt idx="8">
                  <c:v>35</c:v>
                </c:pt>
                <c:pt idx="9">
                  <c:v>15</c:v>
                </c:pt>
                <c:pt idx="10">
                  <c:v>4</c:v>
                </c:pt>
                <c:pt idx="11">
                  <c:v>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 A</c:v>
                </c:pt>
              </c:strCache>
            </c:strRef>
          </c:tx>
          <c:spPr>
            <a:ln w="25400">
              <a:solidFill>
                <a:srgbClr val="C6282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120000</c:v>
                </c:pt>
                <c:pt idx="1">
                  <c:v>135000</c:v>
                </c:pt>
                <c:pt idx="2">
                  <c:v>145000</c:v>
                </c:pt>
                <c:pt idx="3">
                  <c:v>152000</c:v>
                </c:pt>
                <c:pt idx="4">
                  <c:v>168000</c:v>
                </c:pt>
                <c:pt idx="5">
                  <c:v>185000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B</c:v>
                </c:pt>
              </c:strCache>
            </c:strRef>
          </c:tx>
          <c:spPr>
            <a:ln w="25400">
              <a:solidFill>
                <a:srgbClr val="D32F2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85000</c:v>
                </c:pt>
                <c:pt idx="1">
                  <c:v>92000</c:v>
                </c:pt>
                <c:pt idx="2">
                  <c:v>98000</c:v>
                </c:pt>
                <c:pt idx="3">
                  <c:v>105000</c:v>
                </c:pt>
                <c:pt idx="4">
                  <c:v>112000</c:v>
                </c:pt>
                <c:pt idx="5">
                  <c:v>125000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Product C</c:v>
                </c:pt>
              </c:strCache>
            </c:strRef>
          </c:tx>
          <c:spPr>
            <a:ln w="25400">
              <a:solidFill>
                <a:srgbClr val="E53935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65000</c:v>
                </c:pt>
                <c:pt idx="1">
                  <c:v>68000</c:v>
                </c:pt>
                <c:pt idx="2">
                  <c:v>72000</c:v>
                </c:pt>
                <c:pt idx="3">
                  <c:v>78000</c:v>
                </c:pt>
                <c:pt idx="4">
                  <c:v>85000</c:v>
                </c:pt>
                <c:pt idx="5">
                  <c:v>95000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C62828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2025-01-01</c:v>
                </c:pt>
                <c:pt idx="1">
                  <c:v>2025-01-02</c:v>
                </c:pt>
                <c:pt idx="2">
                  <c:v>2025-01-03</c:v>
                </c:pt>
                <c:pt idx="3">
                  <c:v>2025-01-04</c:v>
                </c:pt>
                <c:pt idx="4">
                  <c:v>2025-01-05</c:v>
                </c:pt>
                <c:pt idx="5">
                  <c:v>2025-01-06</c:v>
                </c:pt>
                <c:pt idx="6">
                  <c:v>2025-01-07</c:v>
                </c:pt>
                <c:pt idx="7">
                  <c:v>2025-01-08</c:v>
                </c:pt>
                <c:pt idx="8">
                  <c:v>2025-01-09</c:v>
                </c:pt>
                <c:pt idx="9">
                  <c:v>2025-01-10</c:v>
                </c:pt>
                <c:pt idx="10">
                  <c:v>2025-01-11</c:v>
                </c:pt>
                <c:pt idx="11">
                  <c:v>2025-01-12</c:v>
                </c:pt>
                <c:pt idx="12">
                  <c:v>2025-01-13</c:v>
                </c:pt>
                <c:pt idx="13">
                  <c:v>2025-01-14</c:v>
                </c:pt>
                <c:pt idx="14">
                  <c:v>2025-01-15</c:v>
                </c:pt>
                <c:pt idx="15">
                  <c:v>2025-01-16</c:v>
                </c:pt>
                <c:pt idx="16">
                  <c:v>2025-01-17</c:v>
                </c:pt>
                <c:pt idx="17">
                  <c:v>2025-01-18</c:v>
                </c:pt>
                <c:pt idx="18">
                  <c:v>2025-01-19</c:v>
                </c:pt>
                <c:pt idx="19">
                  <c:v>2025-01-20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146.6362121787724</c:v>
                </c:pt>
                <c:pt idx="1">
                  <c:v>155.0600179291172</c:v>
                </c:pt>
                <c:pt idx="2">
                  <c:v>155.3975648650559</c:v>
                </c:pt>
                <c:pt idx="3">
                  <c:v>148.4445645505116</c:v>
                </c:pt>
                <c:pt idx="4">
                  <c:v>153.6026560992721</c:v>
                </c:pt>
                <c:pt idx="5">
                  <c:v>155.9263651222481</c:v>
                </c:pt>
                <c:pt idx="6">
                  <c:v>151.0648243794852</c:v>
                </c:pt>
                <c:pt idx="7">
                  <c:v>154.6006966079987</c:v>
                </c:pt>
                <c:pt idx="8">
                  <c:v>159.8052536416562</c:v>
                </c:pt>
                <c:pt idx="9">
                  <c:v>153.7555085327865</c:v>
                </c:pt>
                <c:pt idx="10">
                  <c:v>159.7727846493024</c:v>
                </c:pt>
                <c:pt idx="11">
                  <c:v>154.9454953330341</c:v>
                </c:pt>
                <c:pt idx="12">
                  <c:v>160.2109357073662</c:v>
                </c:pt>
                <c:pt idx="13">
                  <c:v>160.7124134401708</c:v>
                </c:pt>
                <c:pt idx="14">
                  <c:v>153.2556788219038</c:v>
                </c:pt>
                <c:pt idx="15">
                  <c:v>161.2655675261164</c:v>
                </c:pt>
                <c:pt idx="16">
                  <c:v>154.7164297577642</c:v>
                </c:pt>
                <c:pt idx="17">
                  <c:v>158.9606373473514</c:v>
                </c:pt>
                <c:pt idx="18">
                  <c:v>161.9403823991073</c:v>
                </c:pt>
                <c:pt idx="19">
                  <c:v>162.5316702681795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(Volatility %)</c:v>
                </c:pt>
              </c:strCache>
            </c:strRef>
          </c:tx>
          <c:spPr>
            <a:ln w="25400">
              <a:solidFill>
                <a:srgbClr val="C62828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Bonds</c:v>
                </c:pt>
                <c:pt idx="1">
                  <c:v>Index Fund</c:v>
                </c:pt>
                <c:pt idx="2">
                  <c:v>Blue Chip</c:v>
                </c:pt>
                <c:pt idx="3">
                  <c:v>Growth Stocks</c:v>
                </c:pt>
                <c:pt idx="4">
                  <c:v>Small Cap</c:v>
                </c:pt>
                <c:pt idx="5">
                  <c:v>Emerging Markets</c:v>
                </c:pt>
                <c:pt idx="6">
                  <c:v>Tech Stocks</c:v>
                </c:pt>
                <c:pt idx="7">
                  <c:v>Crypto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5.2</c:v>
                </c:pt>
                <c:pt idx="1">
                  <c:v>8.5</c:v>
                </c:pt>
                <c:pt idx="2">
                  <c:v>12.3</c:v>
                </c:pt>
                <c:pt idx="3">
                  <c:v>15.8</c:v>
                </c:pt>
                <c:pt idx="4">
                  <c:v>18.2</c:v>
                </c:pt>
                <c:pt idx="5">
                  <c:v>22.5</c:v>
                </c:pt>
                <c:pt idx="6">
                  <c:v>25.8</c:v>
                </c:pt>
                <c:pt idx="7">
                  <c:v>35.5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 (Annual %)</c:v>
                </c:pt>
              </c:strCache>
            </c:strRef>
          </c:tx>
          <c:spPr>
            <a:ln w="25400">
              <a:solidFill>
                <a:srgbClr val="D32F2F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Bonds</c:v>
                </c:pt>
                <c:pt idx="1">
                  <c:v>Index Fund</c:v>
                </c:pt>
                <c:pt idx="2">
                  <c:v>Blue Chip</c:v>
                </c:pt>
                <c:pt idx="3">
                  <c:v>Growth Stocks</c:v>
                </c:pt>
                <c:pt idx="4">
                  <c:v>Small Cap</c:v>
                </c:pt>
                <c:pt idx="5">
                  <c:v>Emerging Markets</c:v>
                </c:pt>
                <c:pt idx="6">
                  <c:v>Tech Stocks</c:v>
                </c:pt>
                <c:pt idx="7">
                  <c:v>Crypto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4.5</c:v>
                </c:pt>
                <c:pt idx="1">
                  <c:v>7.2</c:v>
                </c:pt>
                <c:pt idx="2">
                  <c:v>9.8</c:v>
                </c:pt>
                <c:pt idx="3">
                  <c:v>12.5</c:v>
                </c:pt>
                <c:pt idx="4">
                  <c:v>14.8</c:v>
                </c:pt>
                <c:pt idx="5">
                  <c:v>16.2</c:v>
                </c:pt>
                <c:pt idx="6">
                  <c:v>18.5</c:v>
                </c:pt>
                <c:pt idx="7">
                  <c:v>22.8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Market Cap (B)</c:v>
                </c:pt>
              </c:strCache>
            </c:strRef>
          </c:tx>
          <c:spPr>
            <a:ln w="25400">
              <a:solidFill>
                <a:srgbClr val="E53935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Bonds</c:v>
                </c:pt>
                <c:pt idx="1">
                  <c:v>Index Fund</c:v>
                </c:pt>
                <c:pt idx="2">
                  <c:v>Blue Chip</c:v>
                </c:pt>
                <c:pt idx="3">
                  <c:v>Growth Stocks</c:v>
                </c:pt>
                <c:pt idx="4">
                  <c:v>Small Cap</c:v>
                </c:pt>
                <c:pt idx="5">
                  <c:v>Emerging Markets</c:v>
                </c:pt>
                <c:pt idx="6">
                  <c:v>Tech Stocks</c:v>
                </c:pt>
                <c:pt idx="7">
                  <c:v>Crypto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500</c:v>
                </c:pt>
                <c:pt idx="1">
                  <c:v>350</c:v>
                </c:pt>
                <c:pt idx="2">
                  <c:v>280</c:v>
                </c:pt>
                <c:pt idx="3">
                  <c:v>180</c:v>
                </c:pt>
                <c:pt idx="4">
                  <c:v>120</c:v>
                </c:pt>
                <c:pt idx="5">
                  <c:v>95</c:v>
                </c:pt>
                <c:pt idx="6">
                  <c:v>85</c:v>
                </c:pt>
                <c:pt idx="7">
                  <c:v>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C62828"/>
                </a:solidFill>
              </a:rPr>
              <a:t>Comprehensive Financial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 ($49/month)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62828"/>
                </a:solidFill>
              </a:defRPr>
            </a:pPr>
            <a:r>
              <a:t>Here's a clear, data-driven title that highlights the most important insight:</a:t>
            </a:r>
          </a:p>
          <a:p/>
          <a:p>
            <a:r>
              <a:t>"Revenue Growth Accelerates 98.4% YoY from $125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62828"/>
                </a:solidFill>
              </a:defRPr>
            </a:pPr>
            <a:r>
              <a:t>Revenue Growth Plummets 97% Across Departments"</a:t>
            </a:r>
          </a:p>
          <a:p/>
          <a:p>
            <a:r>
              <a:t>This title highlights the most significant insight from the data summary, which is the 97%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62828"/>
                </a:solidFill>
              </a:defRPr>
            </a:pPr>
            <a:r>
              <a:t>Stocks Account for 45% of Portfolio at $4.5M Value"</a:t>
            </a:r>
          </a:p>
          <a:p/>
          <a:p>
            <a:r>
              <a:t>This title highlights the largest allocation percentage and corresponding value, providing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62828"/>
                </a:solidFill>
              </a:defRPr>
            </a:pPr>
            <a:r>
              <a:t>Here's a clear, data-driven title that highlights the most important insight:</a:t>
            </a:r>
          </a:p>
          <a:p/>
          <a:p>
            <a:r>
              <a:t>"Product A Sales Leap 38% in 6 Months"</a:t>
            </a:r>
          </a:p>
          <a:p/>
          <a:p>
            <a:r>
              <a:t>This title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62828"/>
                </a:solidFill>
              </a:defRPr>
            </a:pPr>
            <a:r>
              <a:t>Revenue Dominance: 100% of Profit Driven by Top-Line Growth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62828"/>
                </a:solidFill>
              </a:defRPr>
            </a:pPr>
            <a:r>
              <a:t>Here's a clear, data-driven title that highlights the most important insight:</a:t>
            </a:r>
          </a:p>
          <a:p/>
          <a:p>
            <a:r>
              <a:t>"Stock Prices Soar 10.8% with Consistent Daily G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62828"/>
                </a:solidFill>
              </a:defRPr>
            </a:pPr>
            <a:r>
              <a:t>Based on the data provided, here's a clear and data-driven title that highlights the most important insight:</a:t>
            </a:r>
          </a:p>
          <a:p/>
          <a:p>
            <a:r>
              <a:t>"Risk Volatility Spikes 582.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