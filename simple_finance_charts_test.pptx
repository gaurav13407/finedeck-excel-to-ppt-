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Portfolio Allocation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dPt>
            <c:idx val="0"/>
            <c:spPr>
              <a:solidFill>
                <a:srgbClr val="1E3A8A"/>
              </a:solidFill>
            </c:spPr>
          </c:dPt>
          <c:dPt>
            <c:idx val="1"/>
            <c:spPr>
              <a:solidFill>
                <a:srgbClr val="3B82F6"/>
              </a:solidFill>
            </c:spPr>
          </c:dPt>
          <c:dPt>
            <c:idx val="2"/>
            <c:spPr>
              <a:solidFill>
                <a:srgbClr val="60A5FA"/>
              </a:solidFill>
            </c:spPr>
          </c:dPt>
          <c:dPt>
            <c:idx val="3"/>
            <c:spPr>
              <a:solidFill>
                <a:srgbClr val="10B981"/>
              </a:solidFill>
            </c:spPr>
          </c:dPt>
          <c:dPt>
            <c:idx val="4"/>
            <c:spPr>
              <a:solidFill>
                <a:srgbClr val="F59E0B"/>
              </a:solidFill>
            </c:spPr>
          </c:dPt>
          <c:cat>
            <c:strRef>
              <c:f>Sheet1!$A$2:$A$6</c:f>
              <c:strCache>
                <c:ptCount val="5"/>
                <c:pt idx="0">
                  <c:v>Technology</c:v>
                </c:pt>
                <c:pt idx="1">
                  <c:v>Healthcare</c:v>
                </c:pt>
                <c:pt idx="2">
                  <c:v>Finance</c:v>
                </c:pt>
                <c:pt idx="3">
                  <c:v>Energy</c:v>
                </c:pt>
                <c:pt idx="4">
                  <c:v>Consumer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35.0</c:v>
                </c:pt>
                <c:pt idx="1">
                  <c:v>25.0</c:v>
                </c:pt>
                <c:pt idx="2">
                  <c:v>20.0</c:v>
                </c:pt>
                <c:pt idx="3">
                  <c:v>12.0</c:v>
                </c:pt>
                <c:pt idx="4">
                  <c:v>8.0</c:v>
                </c:pt>
              </c:numCache>
            </c:numRef>
          </c:val>
        </c:ser>
      </c:pieChart>
    </c:plotArea>
    <c:legend>
      <c:legendPos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Quarterly Trends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 w="25400">
              <a:solidFill>
                <a:srgbClr val="1E3A8A"/>
              </a:solidFill>
            </a:ln>
          </c:spPr>
          <c:marker>
            <c:symbol val="circle"/>
          </c:marker>
          <c:cat>
            <c:strRef>
              <c:f>Sheet1!$A$2:$A$5</c:f>
              <c:strCache>
                <c:ptCount val="4"/>
                <c:pt idx="0">
                  <c:v>Q1 2024</c:v>
                </c:pt>
                <c:pt idx="1">
                  <c:v>Q2 2024</c:v>
                </c:pt>
                <c:pt idx="2">
                  <c:v>Q3 2024</c:v>
                </c:pt>
                <c:pt idx="3">
                  <c:v>Q4 2024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120.0</c:v>
                </c:pt>
                <c:pt idx="1">
                  <c:v>145.0</c:v>
                </c:pt>
                <c:pt idx="2">
                  <c:v>156.0</c:v>
                </c:pt>
                <c:pt idx="3">
                  <c:v>178.0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</c:v>
                </c:pt>
              </c:strCache>
            </c:strRef>
          </c:tx>
          <c:spPr>
            <a:ln w="25400">
              <a:solidFill>
                <a:srgbClr val="3B82F6"/>
              </a:solidFill>
            </a:ln>
          </c:spPr>
          <c:marker>
            <c:symbol val="circle"/>
          </c:marker>
          <c:cat>
            <c:strRef>
              <c:f>Sheet1!$A$2:$A$5</c:f>
              <c:strCache>
                <c:ptCount val="4"/>
                <c:pt idx="0">
                  <c:v>Q1 2024</c:v>
                </c:pt>
                <c:pt idx="1">
                  <c:v>Q2 2024</c:v>
                </c:pt>
                <c:pt idx="2">
                  <c:v>Q3 2024</c:v>
                </c:pt>
                <c:pt idx="3">
                  <c:v>Q4 2024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25.0</c:v>
                </c:pt>
                <c:pt idx="1">
                  <c:v>32.0</c:v>
                </c:pt>
                <c:pt idx="2">
                  <c:v>38.0</c:v>
                </c:pt>
                <c:pt idx="3">
                  <c:v>45.0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Top Performers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Performance</c:v>
                </c:pt>
              </c:strCache>
            </c:strRef>
          </c:tx>
          <c:dPt>
            <c:idx val="0"/>
            <c:spPr>
              <a:solidFill>
                <a:srgbClr val="1E3A8A"/>
              </a:solidFill>
            </c:spPr>
          </c:dPt>
          <c:dPt>
            <c:idx val="1"/>
            <c:spPr>
              <a:solidFill>
                <a:srgbClr val="3B82F6"/>
              </a:solidFill>
            </c:spPr>
          </c:dPt>
          <c:dPt>
            <c:idx val="2"/>
            <c:spPr>
              <a:solidFill>
                <a:srgbClr val="60A5FA"/>
              </a:solidFill>
            </c:spPr>
          </c:dPt>
          <c:dPt>
            <c:idx val="3"/>
            <c:spPr>
              <a:solidFill>
                <a:srgbClr val="10B981"/>
              </a:solidFill>
            </c:spPr>
          </c:dPt>
          <c:dPt>
            <c:idx val="4"/>
            <c:spPr>
              <a:solidFill>
                <a:srgbClr val="F59E0B"/>
              </a:solidFill>
            </c:spPr>
          </c:dPt>
          <c:cat>
            <c:strRef>
              <c:f>Sheet1!$A$2:$A$6</c:f>
              <c:strCache>
                <c:ptCount val="5"/>
                <c:pt idx="0">
                  <c:v>AAPL</c:v>
                </c:pt>
                <c:pt idx="1">
                  <c:v>MSFT</c:v>
                </c:pt>
                <c:pt idx="2">
                  <c:v>GOOGL</c:v>
                </c:pt>
                <c:pt idx="3">
                  <c:v>AMZN</c:v>
                </c:pt>
                <c:pt idx="4">
                  <c:v>TSLA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15.2</c:v>
                </c:pt>
                <c:pt idx="1">
                  <c:v>12.8</c:v>
                </c:pt>
                <c:pt idx="2">
                  <c:v>10.5</c:v>
                </c:pt>
                <c:pt idx="3">
                  <c:v>9.3</c:v>
                </c:pt>
                <c:pt idx="4">
                  <c:v>8.1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1: Portfolio Allocation (PIE)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2: Quarterly Revenue (LINE)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3: Top Performers (COLUMN)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