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Sales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Comprehensive Insights from 9,994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📊 Total Records Analyzed: 9,994</a:t>
            </a:r>
          </a:p>
          <a:p>
            <a:pPr>
              <a:spcBef>
                <a:spcPts val="1200"/>
              </a:spcBef>
              <a:defRPr sz="1800"/>
            </a:pPr>
            <a:r>
              <a:t>📋 Total Columns: 21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Column Breakdown:</a:t>
            </a:r>
          </a:p>
          <a:p>
            <a:pPr>
              <a:spcBef>
                <a:spcPts val="1200"/>
              </a:spcBef>
              <a:defRPr sz="1800"/>
            </a:pPr>
            <a:r>
              <a:t>  • Numeric Columns: 4</a:t>
            </a:r>
          </a:p>
          <a:p>
            <a:pPr>
              <a:spcBef>
                <a:spcPts val="1200"/>
              </a:spcBef>
              <a:defRPr sz="1800"/>
            </a:pPr>
            <a:r>
              <a:t>  • Categorical Columns: 10</a:t>
            </a:r>
          </a:p>
          <a:p>
            <a:pPr>
              <a:spcBef>
                <a:spcPts val="1200"/>
              </a:spcBef>
              <a:defRPr sz="1800"/>
            </a:pPr>
            <a:r>
              <a:t>  • Date Columns: 2</a:t>
            </a:r>
          </a:p>
          <a:p>
            <a:pPr>
              <a:spcBef>
                <a:spcPts val="1200"/>
              </a:spcBef>
              <a:defRPr sz="1800"/>
            </a:pPr>
            <a:r>
              <a:t>  • Identifier Columns: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Key Financial Metrics: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💰 Sales</a:t>
            </a:r>
          </a:p>
          <a:p>
            <a:pPr>
              <a:spcBef>
                <a:spcPts val="1200"/>
              </a:spcBef>
              <a:defRPr sz="1800"/>
            </a:pPr>
            <a:r>
              <a:t>   Total: $2,297,200.86</a:t>
            </a:r>
          </a:p>
          <a:p>
            <a:pPr>
              <a:spcBef>
                <a:spcPts val="1200"/>
              </a:spcBef>
              <a:defRPr sz="1800"/>
            </a:pPr>
            <a:r>
              <a:t>   Average: $229.86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💰 Quantity</a:t>
            </a:r>
          </a:p>
          <a:p>
            <a:pPr>
              <a:spcBef>
                <a:spcPts val="1200"/>
              </a:spcBef>
              <a:defRPr sz="1800"/>
            </a:pPr>
            <a:r>
              <a:t>   Total: 37,873</a:t>
            </a:r>
          </a:p>
          <a:p>
            <a:pPr>
              <a:spcBef>
                <a:spcPts val="1200"/>
              </a:spcBef>
              <a:defRPr sz="1800"/>
            </a:pPr>
            <a:r>
              <a:t>   Average: 3.79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💰 Discount</a:t>
            </a:r>
          </a:p>
          <a:p>
            <a:pPr>
              <a:spcBef>
                <a:spcPts val="1200"/>
              </a:spcBef>
              <a:defRPr sz="1800"/>
            </a:pPr>
            <a:r>
              <a:t>   Total: 1,561</a:t>
            </a:r>
          </a:p>
          <a:p>
            <a:pPr>
              <a:spcBef>
                <a:spcPts val="1200"/>
              </a:spcBef>
              <a:defRPr sz="1800"/>
            </a:pPr>
            <a:r>
              <a:t>   Average: 0.16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💰 Profit</a:t>
            </a:r>
          </a:p>
          <a:p>
            <a:pPr>
              <a:spcBef>
                <a:spcPts val="1200"/>
              </a:spcBef>
              <a:defRPr sz="1800"/>
            </a:pPr>
            <a:r>
              <a:t>   Total: $286,397.02</a:t>
            </a:r>
          </a:p>
          <a:p>
            <a:pPr>
              <a:spcBef>
                <a:spcPts val="1200"/>
              </a:spcBef>
              <a:defRPr sz="1800"/>
            </a:pPr>
            <a:r>
              <a:t>   Average: $28.66</a:t>
            </a:r>
          </a:p>
          <a:p>
            <a:pPr>
              <a:spcBef>
                <a:spcPts val="1200"/>
              </a:spcBef>
              <a:defRPr sz="18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Shipping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Analysis of Ship Mode (4 types):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📦 Standard Class: 5,968 orders (59.72%)</a:t>
            </a:r>
          </a:p>
          <a:p>
            <a:pPr>
              <a:spcBef>
                <a:spcPts val="1200"/>
              </a:spcBef>
              <a:defRPr sz="1800"/>
            </a:pPr>
            <a:r>
              <a:t>📦 Second Class: 1,945 orders (19.46%)</a:t>
            </a:r>
          </a:p>
          <a:p>
            <a:pPr>
              <a:spcBef>
                <a:spcPts val="1200"/>
              </a:spcBef>
              <a:defRPr sz="1800"/>
            </a:pPr>
            <a:r>
              <a:t>📦 First Class: 1,538 orders (15.39%)</a:t>
            </a:r>
          </a:p>
          <a:p>
            <a:pPr>
              <a:spcBef>
                <a:spcPts val="1200"/>
              </a:spcBef>
              <a:defRPr sz="1800"/>
            </a:pPr>
            <a:r>
              <a:t>📦 Same Day: 543 orders (5.43%)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Product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Product Segment Distribution: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📦 Consumer: 5,191 orders (51.94%)</a:t>
            </a:r>
          </a:p>
          <a:p>
            <a:pPr>
              <a:spcBef>
                <a:spcPts val="1200"/>
              </a:spcBef>
              <a:defRPr sz="1800"/>
            </a:pPr>
            <a:r>
              <a:t>📦 Corporate: 3,020 orders (30.22%)</a:t>
            </a:r>
          </a:p>
          <a:p>
            <a:pPr>
              <a:spcBef>
                <a:spcPts val="1200"/>
              </a:spcBef>
              <a:defRPr sz="1800"/>
            </a:pPr>
            <a:r>
              <a:t>📦 Home Office: 1,783 orders (17.84%)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Strategic Recommendations: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1. Total sales of 2,297,200.86 with average transaction of 229.86</a:t>
            </a:r>
          </a:p>
          <a:p>
            <a:pPr>
              <a:spcBef>
                <a:spcPts val="1200"/>
              </a:spcBef>
              <a:defRPr sz="1800"/>
            </a:pPr>
            <a:r>
              <a:t>2. Profit margin is 12.47%</a:t>
            </a:r>
          </a:p>
          <a:p>
            <a:pPr>
              <a:spcBef>
                <a:spcPts val="1200"/>
              </a:spcBef>
              <a:defRPr sz="1800"/>
            </a:pPr>
            <a:r>
              <a:t>3. Positive Order Date trend detected</a:t>
            </a:r>
          </a:p>
          <a:p>
            <a:pPr>
              <a:spcBef>
                <a:spcPts val="1200"/>
              </a:spcBef>
              <a:defRPr sz="1800"/>
            </a:pPr>
            <a:r>
              <a:t>4. Declining Ship Date trend - needs attention</a:t>
            </a:r>
          </a:p>
          <a:p>
            <a:pPr>
              <a:spcBef>
                <a:spcPts val="1200"/>
              </a:spcBef>
              <a:defRPr sz="1800"/>
            </a:pPr>
            <a:r>
              <a:t>5. High concentration in Ship Mode: Standard Class represents 59.72% of data</a:t>
            </a:r>
          </a:p>
          <a:p>
            <a:pPr>
              <a:spcBef>
                <a:spcPts val="1200"/>
              </a:spcBef>
              <a:defRPr sz="1800"/>
            </a:pPr>
            <a:r>
              <a:t>6. High concentration in Segment: Consumer represents 51.94% of data</a:t>
            </a:r>
          </a:p>
          <a:p>
            <a:pPr>
              <a:spcBef>
                <a:spcPts val="1200"/>
              </a:spcBef>
              <a:defRPr sz="1800"/>
            </a:pPr>
            <a:r>
              <a:t>7. High concentration in Country: United States represents 100.0% of data</a:t>
            </a:r>
          </a:p>
          <a:p>
            <a:pPr>
              <a:spcBef>
                <a:spcPts val="1200"/>
              </a:spcBef>
              <a:defRPr sz="1800"/>
            </a:pPr>
            <a:r>
              <a:t>8. High concentration in Category: Office Supplies represents 60.3% of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Data-Driven Insights for Better Decision 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