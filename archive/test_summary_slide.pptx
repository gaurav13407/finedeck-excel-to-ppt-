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8288"/>
          </a:xfrm>
          <a:prstGeom prst="rect">
            <a:avLst/>
          </a:prstGeom>
          <a:solidFill>
            <a:srgbClr val="004F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457200"/>
            <a:ext cx="8686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004F9E"/>
                </a:solidFill>
              </a:defRPr>
            </a:pPr>
            <a:r>
              <a:t>Summary &amp; Next Steps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286000"/>
            <a:ext cx="6400800" cy="2286000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/>
          <a:p>
            <a:pPr algn="ctr">
              <a:spcAft>
                <a:spcPts val="1400"/>
              </a:spcAft>
              <a:defRPr sz="2000">
                <a:solidFill>
                  <a:srgbClr val="16A085"/>
                </a:solidFill>
              </a:defRPr>
            </a:pPr>
            <a:r>
              <a:t>✓ Comprehensive analysis completed</a:t>
            </a:r>
          </a:p>
          <a:p>
            <a:pPr algn="ctr">
              <a:spcAft>
                <a:spcPts val="1400"/>
              </a:spcAft>
              <a:defRPr sz="2000">
                <a:solidFill>
                  <a:srgbClr val="16A085"/>
                </a:solidFill>
              </a:defRPr>
            </a:pPr>
            <a:r>
              <a:t>✓ Key insights identified for action</a:t>
            </a:r>
          </a:p>
          <a:p>
            <a:pPr algn="ctr">
              <a:spcAft>
                <a:spcPts val="1400"/>
              </a:spcAft>
              <a:defRPr sz="2000">
                <a:solidFill>
                  <a:srgbClr val="16A085"/>
                </a:solidFill>
              </a:defRPr>
            </a:pPr>
            <a:r>
              <a:t>✓ Data-driven recommendations provided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6515100"/>
            <a:ext cx="8686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6C757D"/>
                </a:solidFill>
              </a:defRPr>
            </a:pPr>
            <a:r>
              <a:t>Generated by FinDeck | November 10, 2025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